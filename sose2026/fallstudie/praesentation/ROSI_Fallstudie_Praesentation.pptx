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68188" cy="6840538"/>
  <p:notesSz cx="6858000" cy="9144000"/>
  <p:defaultTextStyle>
    <a:defPPr>
      <a:defRPr lang="de-DE"/>
    </a:defPPr>
    <a:lvl1pPr marL="0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1pPr>
    <a:lvl2pPr marL="608333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2pPr>
    <a:lvl3pPr marL="1216664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3pPr>
    <a:lvl4pPr marL="1824996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4pPr>
    <a:lvl5pPr marL="2433328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5pPr>
    <a:lvl6pPr marL="3041660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6pPr>
    <a:lvl7pPr marL="3649993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7pPr>
    <a:lvl8pPr marL="4258324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8pPr>
    <a:lvl9pPr marL="4866657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89F50-745E-47D8-8A7E-F15033400428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43000"/>
            <a:ext cx="548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6DCDA-4F9A-408E-886C-6332B2FE1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198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0:50
Quellenhinweis: Avizienis et al. (2004); eigene Fallstudie.
- ROSI: optische Inline-Inspektion im industriellen Dauerbetrieb.
- Fokus: Verfügbarkeit, Ausfalltoleranz und Konsistenz.
- Fünf Fault-Injection-Cases mit unterschiedlichen Evidenzstufen.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9271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0:55
Quellenhinweis: Eigene Ausarbeitung, Kapitel 1; Avizienis et al. (2004).
- Materialfluss und Inspektion laufen kontinuierlich.
- Lokale Softwarefehler können betriebliche Folgen auslösen.
- Leitfrage: Erkennt und begrenzt ROSI diese Fehler rechtzeitig?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9631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1:10
Quellenhinweis: Eigene Ausarbeitung, Kapitel 2; Python shared_memory-Dokumentation.
- Vier langlebige Dienste und zwölf Worker.
- Bilddaten im Shared Memory, Referenzen in Queues.
- Baseline: 1,74 Inspektionen pro Sekunde bei 383 Millisekunden.
- Nur der PipelineManager wird laufend überwacht.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7091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0:55
Quellenhinweis: Hsueh, Tsai und Iyer (1997); eigene Messprotokolle.
- Definierter Fehlerzustand, reproduzierbarer Eingriff, beobachtete Reaktion.
- C1 bis C5 verwenden unterschiedliche Injektionsmechanismen.
- Messung und analytische Ableitung bleiben getrennt.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2468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1:10
Quellenhinweis: Eigene C1-Messung; Pont und Ong (2002).
- Jeder langlebige Dienst wurde einzeln per SIGKILL beendet.
- Nur PipelineManager erkannt: TTD 0,992 Sekunden.
- Drei Dienste zeigen keine vollständige Top-Level-Reaktion.
- Konsequenz: Supervision für alle langlebigen Services.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9529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1:10
Quellenhinweis: case2_disk_usage_timeseries.csv; disk_full.log; Linux tmpfs-Dokumentation.
- Images/Out wächst im Messfenster um 43,6 Megabyte.
- Etwa 21,8 Megabyte je Inspektion; Produktionsrate nur hochgerechnet.
- OSError(28) wird nicht lokal abgefangen.
- PipelineManager-Absturz nach 35,2 Sekunden, danach Shutdown.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990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1:10
Quellenhinweis: queue_depth_timeseries.csv; cascade.log; Python queue-Dokumentation.
- SIGSTOP hält Logger und Queue-Monitor an.
- Nach etwa 1,3 Sekunden steht die Verarbeitung.
- Messlücke: 30,4 Sekunden; qsize außerhalb maximal sechs.
- Queue-Sättigung ist technisch abgeleitet, nicht direkt gemessen.
- Timeout und Drop-on-Full würden Logging entkoppeln.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032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1:10
Quellenhinweis: Eigene Ausarbeitung, Kapitel 5.4; Django-Dokumentation.
- Entwicklungstest: 27 Verbindungen terminiert, kein OperationalError.
- Negativkontrolle maskiert das Produktionsrisiko.
- Persistente Verbindung kann nach Anlagenpause veraltet sein.
- Produktionskonfiguration und Pausenszenario direkt validieren.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9593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0:55
Quellenhinweis: case5_gc_race.log; Python shared_memory-Dokumentation.
- Hypothese: vorzeitige Freigabe eines benötigten Shared-Memory-Blocks.
- Letzter Zugriff: 45 bis 107 Millisekunden.
- Reguläre Freigabeschwelle: ungefähr zehn Sekunden.
- Kein Fehler in 120 Sekunden; Hypothese nicht bestätigt.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659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1:05
Quellenhinweis: Eigene Synthese, Kapitel 6; Avizienis et al. (2004).
- C1 bis C4 zeigen wiederkehrende Schutzlücken.
- Lokale Fehler propagieren über fehlende Supervision, Timeouts oder Retries.
- Baseline stabil; Fehlerisolation bleibt unvollständig.
- C5 begrenzt die Verallgemeinerung.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2123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1:20
Quellenhinweis: Eigene Handlungsempfehlungen, Kapitel 6; Pont und Ong (2002).
- Alle langlebigen Dienste überwachen.
- Speichergrenzen alarmieren und kontrolliert degradieren.
- Logging durch Timeout und Drop-on-Full entkoppeln.
- Datenbankverbindungen erneuern und gezielt wiederholen.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57523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0:55
Quellenhinweis: Eigene Ausarbeitung, Kapitel 4.5; Fallstudienprotokolle und Sperrvermerk.
- Laboraufbau mit Simulator statt Kundenhardware.
- Testfenster zwischen 20 und 120 Sekunden.
- Einzelmessungen ohne statistische Absicherung.
- C4 bleibt analytisch; Produktionskonfiguration ist offen.
- Sperrvermerk: keine internen Zugangsdaten oder Kundendetails zeigen.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22152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Sprechzeit: 0:25
Quellenhinweis: Zusammenfassung der eigenen Fallstudie.
- Dienste und Ressourcen sichtbar machen.
- Lokale Fehler entkoppeln und kontrolliert degradieren.
- Nächster Schritt: produktionsnahe Validierung.
- Vielen Dank – Fragen?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6DCDA-4F9A-408E-886C-6332B2FE181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3589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grenzebach.com/" TargetMode="External"/><Relationship Id="rId4" Type="http://schemas.openxmlformats.org/officeDocument/2006/relationships/image" Target="../media/image7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04331A5C-6826-4E0F-8FF5-B3D10FD8E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" y="414"/>
            <a:ext cx="12167140" cy="684030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D2FD9B69-BB6C-4462-A46B-CC09FA31131C}"/>
              </a:ext>
            </a:extLst>
          </p:cNvPr>
          <p:cNvSpPr/>
          <p:nvPr/>
        </p:nvSpPr>
        <p:spPr>
          <a:xfrm>
            <a:off x="0" y="0"/>
            <a:ext cx="12168188" cy="6840538"/>
          </a:xfrm>
          <a:prstGeom prst="rect">
            <a:avLst/>
          </a:prstGeom>
          <a:solidFill>
            <a:schemeClr val="accent2">
              <a:alpha val="10000"/>
            </a:schemeClr>
          </a:solidFill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908" tIns="35908" rIns="35908" bIns="359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9549" indent="-179549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596" dirty="0">
              <a:solidFill>
                <a:schemeClr val="tx2"/>
              </a:solidFill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70F9F02D-1AB5-4E08-80B9-B1848D682B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21747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68" imgH="668" progId="TCLayout.ActiveDocument.1">
                  <p:embed/>
                </p:oleObj>
              </mc:Choice>
              <mc:Fallback>
                <p:oleObj name="think-cell Folie" r:id="rId4" imgW="668" imgH="66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70F9F02D-1AB5-4E08-80B9-B1848D682B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001" y="5256000"/>
            <a:ext cx="9360000" cy="648000"/>
          </a:xfrm>
          <a:prstGeom prst="rect">
            <a:avLst/>
          </a:prstGeom>
        </p:spPr>
        <p:txBody>
          <a:bodyPr lIns="36000" tIns="0" rIns="36000" bIns="0" anchor="b"/>
          <a:lstStyle>
            <a:lvl1pPr marL="0" indent="0">
              <a:buFontTx/>
              <a:buNone/>
              <a:defRPr sz="1995">
                <a:solidFill>
                  <a:schemeClr val="tx2"/>
                </a:solidFill>
              </a:defRPr>
            </a:lvl1pPr>
          </a:lstStyle>
          <a:p>
            <a:pPr lvl="0"/>
            <a:r>
              <a:rPr lang="de-DE" noProof="0"/>
              <a:t>Präsentationstitel, Arial 20pt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001" y="5904001"/>
            <a:ext cx="9360000" cy="216000"/>
          </a:xfrm>
          <a:prstGeom prst="rect">
            <a:avLst/>
          </a:prstGeom>
        </p:spPr>
        <p:txBody>
          <a:bodyPr lIns="36000" tIns="0" rIns="36000" bIns="0" anchor="t"/>
          <a:lstStyle>
            <a:lvl1pPr marL="0" indent="0">
              <a:buFontTx/>
              <a:buNone/>
              <a:defRPr sz="1397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Ort, Datum, Arial 14pt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AE432D1D-0888-4883-BBDA-C324E7FBCE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1" y="1980001"/>
            <a:ext cx="5040000" cy="111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15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21DD6F13-4D5F-49CD-9A54-5FC292648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15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900002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596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1DA3756A-600F-4983-A82E-8CB91236CD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1" y="6264001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0918" indent="-430918">
              <a:buFontTx/>
              <a:buNone/>
              <a:tabLst>
                <a:tab pos="430918" algn="l"/>
              </a:tabLst>
              <a:defRPr sz="798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</p:spTree>
    <p:extLst>
      <p:ext uri="{BB962C8B-B14F-4D97-AF65-F5344CB8AC3E}">
        <p14:creationId xmlns:p14="http://schemas.microsoft.com/office/powerpoint/2010/main" val="4236638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0033E154-D5E4-4D4F-9451-15247C635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8" name="Textplatzhalter 1"/>
          <p:cNvSpPr>
            <a:spLocks noGrp="1"/>
          </p:cNvSpPr>
          <p:nvPr>
            <p:ph idx="1" hasCustomPrompt="1"/>
          </p:nvPr>
        </p:nvSpPr>
        <p:spPr>
          <a:xfrm>
            <a:off x="358777" y="1223963"/>
            <a:ext cx="11449413" cy="50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noProof="0" dirty="0"/>
            </a:lvl1pPr>
            <a:lvl2pPr>
              <a:defRPr lang="en-US" noProof="0" dirty="0"/>
            </a:lvl2pPr>
            <a:lvl3pPr>
              <a:defRPr lang="en-US" noProof="0" dirty="0"/>
            </a:lvl3pPr>
            <a:lvl4pPr>
              <a:defRPr lang="en-US" noProof="0" dirty="0"/>
            </a:lvl4pPr>
            <a:lvl5pPr>
              <a:defRPr lang="en-US" noProof="0" dirty="0"/>
            </a:lvl5pPr>
          </a:lstStyle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5499317A-9F6A-47C9-BF71-D6B286783D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1" y="6264001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0918" indent="-430918">
              <a:buFontTx/>
              <a:buNone/>
              <a:tabLst>
                <a:tab pos="430918" algn="l"/>
              </a:tabLst>
              <a:defRPr sz="798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7B5877BC-FA03-45CA-8D95-6EAB916355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900002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596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</p:spTree>
    <p:extLst>
      <p:ext uri="{BB962C8B-B14F-4D97-AF65-F5344CB8AC3E}">
        <p14:creationId xmlns:p14="http://schemas.microsoft.com/office/powerpoint/2010/main" val="3740266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B158F595-D676-4C03-8AB3-0538A23517B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3068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668" imgH="668" progId="TCLayout.ActiveDocument.1">
                  <p:embed/>
                </p:oleObj>
              </mc:Choice>
              <mc:Fallback>
                <p:oleObj name="think-cell Folie" r:id="rId3" imgW="668" imgH="668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B158F595-D676-4C03-8AB3-0538A23517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679C32A9-31F5-4023-8430-63AF96D47D2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8776" y="1223964"/>
            <a:ext cx="11445875" cy="5040312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4494588-E953-4BE2-A714-841ED567FC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6" y="4932001"/>
            <a:ext cx="11448000" cy="1008063"/>
          </a:xfrm>
          <a:solidFill>
            <a:schemeClr val="bg1">
              <a:alpha val="70000"/>
            </a:schemeClr>
          </a:solidFill>
        </p:spPr>
        <p:txBody>
          <a:bodyPr lIns="180000" tIns="108000" rIns="180000" bIns="108000" anchor="ctr"/>
          <a:lstStyle>
            <a:lvl1pPr marL="0" indent="0">
              <a:buNone/>
              <a:defRPr sz="2793"/>
            </a:lvl1pPr>
          </a:lstStyle>
          <a:p>
            <a:pPr lvl="0"/>
            <a:r>
              <a:rPr lang="en-US" noProof="0" dirty="0" err="1"/>
              <a:t>Neues</a:t>
            </a:r>
            <a:r>
              <a:rPr lang="en-US" noProof="0" dirty="0"/>
              <a:t> </a:t>
            </a:r>
            <a:r>
              <a:rPr lang="en-US" noProof="0" dirty="0" err="1"/>
              <a:t>Kapitel</a:t>
            </a:r>
            <a:endParaRPr lang="en-US" noProof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95C557F-E00B-45C1-AD05-EBB089C9A8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916212-6417-4DE4-9C88-40C6A2DF470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019459-0D8E-40C3-96EB-A808F4AC30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184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Divid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6E1B9EC-E0B3-4A4D-BF5F-7414E3122D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23964"/>
            <a:ext cx="12168188" cy="5040312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E2A799F-3E3C-4F2D-A1E2-4CF07ADB1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223964"/>
            <a:ext cx="12168188" cy="5040312"/>
          </a:xfrm>
          <a:solidFill>
            <a:srgbClr val="585E63">
              <a:alpha val="40000"/>
            </a:srgbClr>
          </a:solidFill>
        </p:spPr>
        <p:txBody>
          <a:bodyPr lIns="720000" anchor="ctr"/>
          <a:lstStyle>
            <a:lvl1pPr marL="0" indent="0">
              <a:buNone/>
              <a:defRPr sz="598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Neues Kapitel (60pt, fett)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6C5202F-CBAE-4EC9-95AD-121B04870E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DDFCB4-FF59-4C14-9698-FF368EC516D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6F5618-FC57-4684-8CEA-8AC2C6233C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53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0033E154-D5E4-4D4F-9451-15247C635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5499317A-9F6A-47C9-BF71-D6B286783D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1" y="6264001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0918" indent="-430918">
              <a:buFontTx/>
              <a:buNone/>
              <a:tabLst>
                <a:tab pos="430918" algn="l"/>
              </a:tabLst>
              <a:defRPr sz="798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7B5877BC-FA03-45CA-8D95-6EAB916355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900002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596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C2D62CD8-8288-4148-942A-E308721D06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1224000"/>
            <a:ext cx="5580000" cy="5040000"/>
          </a:xfrm>
        </p:spPr>
        <p:txBody>
          <a:bodyPr lIns="0" tIns="0" rIns="0" b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8048650E-EE63-4A13-A014-0958B77875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9412" y="1224000"/>
            <a:ext cx="5580000" cy="5040000"/>
          </a:xfrm>
        </p:spPr>
        <p:txBody>
          <a:bodyPr lIns="0" tIns="0" rIns="0" b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383389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3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0033E154-D5E4-4D4F-9451-15247C635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5499317A-9F6A-47C9-BF71-D6B286783D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1" y="6264001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0918" indent="-430918">
              <a:buFontTx/>
              <a:buNone/>
              <a:tabLst>
                <a:tab pos="430918" algn="l"/>
              </a:tabLst>
              <a:defRPr sz="798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7B5877BC-FA03-45CA-8D95-6EAB916355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900002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596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C2D62CD8-8288-4148-942A-E308721D06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1224000"/>
            <a:ext cx="3636000" cy="5040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8048650E-EE63-4A13-A014-0958B77875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66095" y="1224000"/>
            <a:ext cx="3636000" cy="5040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242661A6-CEE7-4B4B-B89F-E8D82B22C3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72001" y="1224000"/>
            <a:ext cx="3636000" cy="5040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2555424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4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0033E154-D5E4-4D4F-9451-15247C635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5499317A-9F6A-47C9-BF71-D6B286783D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1" y="6264001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0918" indent="-430918">
              <a:buFontTx/>
              <a:buNone/>
              <a:tabLst>
                <a:tab pos="430918" algn="l"/>
              </a:tabLst>
              <a:defRPr sz="798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7B5877BC-FA03-45CA-8D95-6EAB916355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900002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596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C2D62CD8-8288-4148-942A-E308721D06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1224002"/>
            <a:ext cx="5579999" cy="2376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8048650E-EE63-4A13-A014-0958B77875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7829" y="1224002"/>
            <a:ext cx="5581585" cy="2376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242661A6-CEE7-4B4B-B89F-E8D82B22C3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9998" y="3887964"/>
            <a:ext cx="5579998" cy="2376313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07D3E80B-48E3-4A16-9703-2E34F3AEE7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9414" y="3887964"/>
            <a:ext cx="5579998" cy="2376313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327906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object +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17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51AA2DBB-222F-4FF3-B47B-FE74289451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09413" y="1224002"/>
            <a:ext cx="3600000" cy="2376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835D2048-4E22-4DA4-B2DC-029AFC7299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9413" y="3887999"/>
            <a:ext cx="3600000" cy="2376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F2BE97-398E-4F52-A542-639B038C139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60363" y="1224000"/>
            <a:ext cx="7560000" cy="5040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3" name="Fußzeilenplatzhalter 3">
            <a:extLst>
              <a:ext uri="{FF2B5EF4-FFF2-40B4-BE49-F238E27FC236}">
                <a16:creationId xmlns:a16="http://schemas.microsoft.com/office/drawing/2014/main" id="{17B3BB7F-6D3E-4D97-81FF-FE45C92FF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DD46C2C9-EE09-4C8E-BCEC-A62FD75657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1" y="6264001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0918" indent="-430918">
              <a:buFontTx/>
              <a:buNone/>
              <a:tabLst>
                <a:tab pos="430918" algn="l"/>
              </a:tabLst>
              <a:defRPr sz="798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BC037905-D868-4DF3-A4CA-C228E191F6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00002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596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</p:spTree>
    <p:extLst>
      <p:ext uri="{BB962C8B-B14F-4D97-AF65-F5344CB8AC3E}">
        <p14:creationId xmlns:p14="http://schemas.microsoft.com/office/powerpoint/2010/main" val="262075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object + 1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17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51AA2DBB-222F-4FF3-B47B-FE74289451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84888" y="1224000"/>
            <a:ext cx="5724524" cy="5040275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F2BE97-398E-4F52-A542-639B038C139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60365" y="1224000"/>
            <a:ext cx="5723731" cy="5040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3" name="Fußzeilenplatzhalter 3">
            <a:extLst>
              <a:ext uri="{FF2B5EF4-FFF2-40B4-BE49-F238E27FC236}">
                <a16:creationId xmlns:a16="http://schemas.microsoft.com/office/drawing/2014/main" id="{17B3BB7F-6D3E-4D97-81FF-FE45C92FF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DD46C2C9-EE09-4C8E-BCEC-A62FD75657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1" y="6264001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0918" indent="-430918">
              <a:buFontTx/>
              <a:buNone/>
              <a:tabLst>
                <a:tab pos="430918" algn="l"/>
              </a:tabLst>
              <a:defRPr sz="798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BC037905-D868-4DF3-A4CA-C228E191F6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00002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596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</p:spTree>
    <p:extLst>
      <p:ext uri="{BB962C8B-B14F-4D97-AF65-F5344CB8AC3E}">
        <p14:creationId xmlns:p14="http://schemas.microsoft.com/office/powerpoint/2010/main" val="1042098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collection | 6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064000" y="1224002"/>
            <a:ext cx="3744000" cy="246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596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52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360000" y="1223964"/>
            <a:ext cx="3744000" cy="246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596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28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4215930" y="1223463"/>
            <a:ext cx="3744000" cy="246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596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58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58776" y="3798001"/>
            <a:ext cx="3744000" cy="246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596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61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4215930" y="3797464"/>
            <a:ext cx="3744000" cy="246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596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64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8064000" y="3798001"/>
            <a:ext cx="3744000" cy="246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596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53" name="Textplatzhalter 35">
            <a:extLst>
              <a:ext uri="{FF2B5EF4-FFF2-40B4-BE49-F238E27FC236}">
                <a16:creationId xmlns:a16="http://schemas.microsoft.com/office/drawing/2014/main" id="{F4E7A05B-12EB-4E76-A22E-8301E4090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16753" y="3204161"/>
            <a:ext cx="3826622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596" b="1">
                <a:solidFill>
                  <a:schemeClr val="accent2"/>
                </a:solidFill>
              </a:defRPr>
            </a:lvl1pPr>
            <a:lvl2pPr marL="606533" indent="0">
              <a:buNone/>
              <a:defRPr sz="1317">
                <a:solidFill>
                  <a:schemeClr val="tx2"/>
                </a:solidFill>
              </a:defRPr>
            </a:lvl2pPr>
            <a:lvl3pPr marL="1213066" indent="0">
              <a:buNone/>
              <a:defRPr sz="1317">
                <a:solidFill>
                  <a:schemeClr val="tx2"/>
                </a:solidFill>
              </a:defRPr>
            </a:lvl3pPr>
            <a:lvl4pPr marL="1819599" indent="0">
              <a:buNone/>
              <a:defRPr sz="1317">
                <a:solidFill>
                  <a:schemeClr val="tx2"/>
                </a:solidFill>
              </a:defRPr>
            </a:lvl4pPr>
            <a:lvl5pPr marL="2426131" indent="0">
              <a:buNone/>
              <a:defRPr sz="1317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54" name="Textplatzhalter 35">
            <a:extLst>
              <a:ext uri="{FF2B5EF4-FFF2-40B4-BE49-F238E27FC236}">
                <a16:creationId xmlns:a16="http://schemas.microsoft.com/office/drawing/2014/main" id="{891B6FC7-679B-4434-83B2-E2D9A5B0A95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15515" y="3491963"/>
            <a:ext cx="3826622" cy="251999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79549" indent="-179549">
              <a:buNone/>
              <a:defRPr lang="en-US" sz="998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50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00002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596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51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26" name="Fußzeilenplatzhalter 3">
            <a:extLst>
              <a:ext uri="{FF2B5EF4-FFF2-40B4-BE49-F238E27FC236}">
                <a16:creationId xmlns:a16="http://schemas.microsoft.com/office/drawing/2014/main" id="{B0C178F1-BF4A-4A3B-A63A-AF192CE25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8A64BC1D-B2BA-4CFC-82F5-A267CA1F5E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1" y="6264001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0918" indent="-430918">
              <a:buFontTx/>
              <a:buNone/>
              <a:tabLst>
                <a:tab pos="430918" algn="l"/>
              </a:tabLst>
              <a:defRPr sz="798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33" name="Textplatzhalter 35">
            <a:extLst>
              <a:ext uri="{FF2B5EF4-FFF2-40B4-BE49-F238E27FC236}">
                <a16:creationId xmlns:a16="http://schemas.microsoft.com/office/drawing/2014/main" id="{F8ACB046-589C-4895-A868-79FDEAC265E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163457" y="3204674"/>
            <a:ext cx="3826622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596" b="1">
                <a:solidFill>
                  <a:schemeClr val="accent2"/>
                </a:solidFill>
              </a:defRPr>
            </a:lvl1pPr>
            <a:lvl2pPr marL="606533" indent="0">
              <a:buNone/>
              <a:defRPr sz="1317">
                <a:solidFill>
                  <a:schemeClr val="tx2"/>
                </a:solidFill>
              </a:defRPr>
            </a:lvl2pPr>
            <a:lvl3pPr marL="1213066" indent="0">
              <a:buNone/>
              <a:defRPr sz="1317">
                <a:solidFill>
                  <a:schemeClr val="tx2"/>
                </a:solidFill>
              </a:defRPr>
            </a:lvl3pPr>
            <a:lvl4pPr marL="1819599" indent="0">
              <a:buNone/>
              <a:defRPr sz="1317">
                <a:solidFill>
                  <a:schemeClr val="tx2"/>
                </a:solidFill>
              </a:defRPr>
            </a:lvl4pPr>
            <a:lvl5pPr marL="2426131" indent="0">
              <a:buNone/>
              <a:defRPr sz="1317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34" name="Textplatzhalter 35">
            <a:extLst>
              <a:ext uri="{FF2B5EF4-FFF2-40B4-BE49-F238E27FC236}">
                <a16:creationId xmlns:a16="http://schemas.microsoft.com/office/drawing/2014/main" id="{4BFCCBED-4CE0-4606-AA03-30253234825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162219" y="3492476"/>
            <a:ext cx="3826622" cy="251485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79549" indent="-179549">
              <a:buNone/>
              <a:defRPr lang="en-US" sz="998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35" name="Textplatzhalter 35">
            <a:extLst>
              <a:ext uri="{FF2B5EF4-FFF2-40B4-BE49-F238E27FC236}">
                <a16:creationId xmlns:a16="http://schemas.microsoft.com/office/drawing/2014/main" id="{386B1ADB-5355-4AE7-AC72-DB81CAAB0ED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017999" y="3204176"/>
            <a:ext cx="3826622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596" b="1">
                <a:solidFill>
                  <a:schemeClr val="accent2"/>
                </a:solidFill>
              </a:defRPr>
            </a:lvl1pPr>
            <a:lvl2pPr marL="606533" indent="0">
              <a:buNone/>
              <a:defRPr sz="1317">
                <a:solidFill>
                  <a:schemeClr val="tx2"/>
                </a:solidFill>
              </a:defRPr>
            </a:lvl2pPr>
            <a:lvl3pPr marL="1213066" indent="0">
              <a:buNone/>
              <a:defRPr sz="1317">
                <a:solidFill>
                  <a:schemeClr val="tx2"/>
                </a:solidFill>
              </a:defRPr>
            </a:lvl3pPr>
            <a:lvl4pPr marL="1819599" indent="0">
              <a:buNone/>
              <a:defRPr sz="1317">
                <a:solidFill>
                  <a:schemeClr val="tx2"/>
                </a:solidFill>
              </a:defRPr>
            </a:lvl4pPr>
            <a:lvl5pPr marL="2426131" indent="0">
              <a:buNone/>
              <a:defRPr sz="1317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860A5883-B768-4593-94FE-E9EC6795773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017999" y="3491978"/>
            <a:ext cx="3826622" cy="251484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79549" indent="-179549">
              <a:buNone/>
              <a:defRPr lang="en-US" sz="998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41" name="Textplatzhalter 35">
            <a:extLst>
              <a:ext uri="{FF2B5EF4-FFF2-40B4-BE49-F238E27FC236}">
                <a16:creationId xmlns:a16="http://schemas.microsoft.com/office/drawing/2014/main" id="{6A6BE054-5C5E-4457-B11F-1DF39516FCF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15515" y="5779447"/>
            <a:ext cx="3826622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596" b="1">
                <a:solidFill>
                  <a:schemeClr val="accent2"/>
                </a:solidFill>
              </a:defRPr>
            </a:lvl1pPr>
            <a:lvl2pPr marL="606533" indent="0">
              <a:buNone/>
              <a:defRPr sz="1317">
                <a:solidFill>
                  <a:schemeClr val="tx2"/>
                </a:solidFill>
              </a:defRPr>
            </a:lvl2pPr>
            <a:lvl3pPr marL="1213066" indent="0">
              <a:buNone/>
              <a:defRPr sz="1317">
                <a:solidFill>
                  <a:schemeClr val="tx2"/>
                </a:solidFill>
              </a:defRPr>
            </a:lvl3pPr>
            <a:lvl4pPr marL="1819599" indent="0">
              <a:buNone/>
              <a:defRPr sz="1317">
                <a:solidFill>
                  <a:schemeClr val="tx2"/>
                </a:solidFill>
              </a:defRPr>
            </a:lvl4pPr>
            <a:lvl5pPr marL="2426131" indent="0">
              <a:buNone/>
              <a:defRPr sz="1317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42" name="Textplatzhalter 35">
            <a:extLst>
              <a:ext uri="{FF2B5EF4-FFF2-40B4-BE49-F238E27FC236}">
                <a16:creationId xmlns:a16="http://schemas.microsoft.com/office/drawing/2014/main" id="{235713F6-5B2E-4F2E-84DB-06649FF8E86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14277" y="6067249"/>
            <a:ext cx="3826622" cy="251999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79549" indent="-179549">
              <a:buNone/>
              <a:defRPr lang="en-US" sz="998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43" name="Textplatzhalter 35">
            <a:extLst>
              <a:ext uri="{FF2B5EF4-FFF2-40B4-BE49-F238E27FC236}">
                <a16:creationId xmlns:a16="http://schemas.microsoft.com/office/drawing/2014/main" id="{62263897-808A-418A-BC6B-C0F4D2E5A4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162219" y="5779960"/>
            <a:ext cx="3826622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596" b="1">
                <a:solidFill>
                  <a:schemeClr val="accent2"/>
                </a:solidFill>
              </a:defRPr>
            </a:lvl1pPr>
            <a:lvl2pPr marL="606533" indent="0">
              <a:buNone/>
              <a:defRPr sz="1317">
                <a:solidFill>
                  <a:schemeClr val="tx2"/>
                </a:solidFill>
              </a:defRPr>
            </a:lvl2pPr>
            <a:lvl3pPr marL="1213066" indent="0">
              <a:buNone/>
              <a:defRPr sz="1317">
                <a:solidFill>
                  <a:schemeClr val="tx2"/>
                </a:solidFill>
              </a:defRPr>
            </a:lvl3pPr>
            <a:lvl4pPr marL="1819599" indent="0">
              <a:buNone/>
              <a:defRPr sz="1317">
                <a:solidFill>
                  <a:schemeClr val="tx2"/>
                </a:solidFill>
              </a:defRPr>
            </a:lvl4pPr>
            <a:lvl5pPr marL="2426131" indent="0">
              <a:buNone/>
              <a:defRPr sz="1317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44" name="Textplatzhalter 35">
            <a:extLst>
              <a:ext uri="{FF2B5EF4-FFF2-40B4-BE49-F238E27FC236}">
                <a16:creationId xmlns:a16="http://schemas.microsoft.com/office/drawing/2014/main" id="{C9D9D79E-7443-4BEF-ABE6-BA4A7B56E4A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160981" y="6067763"/>
            <a:ext cx="3826622" cy="251485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79549" indent="-179549">
              <a:buNone/>
              <a:defRPr lang="en-US" sz="998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45" name="Textplatzhalter 35">
            <a:extLst>
              <a:ext uri="{FF2B5EF4-FFF2-40B4-BE49-F238E27FC236}">
                <a16:creationId xmlns:a16="http://schemas.microsoft.com/office/drawing/2014/main" id="{536185A2-40C0-4197-9309-A19C3863EDD8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016761" y="5779462"/>
            <a:ext cx="3826622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596" b="1">
                <a:solidFill>
                  <a:schemeClr val="accent2"/>
                </a:solidFill>
              </a:defRPr>
            </a:lvl1pPr>
            <a:lvl2pPr marL="606533" indent="0">
              <a:buNone/>
              <a:defRPr sz="1317">
                <a:solidFill>
                  <a:schemeClr val="tx2"/>
                </a:solidFill>
              </a:defRPr>
            </a:lvl2pPr>
            <a:lvl3pPr marL="1213066" indent="0">
              <a:buNone/>
              <a:defRPr sz="1317">
                <a:solidFill>
                  <a:schemeClr val="tx2"/>
                </a:solidFill>
              </a:defRPr>
            </a:lvl3pPr>
            <a:lvl4pPr marL="1819599" indent="0">
              <a:buNone/>
              <a:defRPr sz="1317">
                <a:solidFill>
                  <a:schemeClr val="tx2"/>
                </a:solidFill>
              </a:defRPr>
            </a:lvl4pPr>
            <a:lvl5pPr marL="2426131" indent="0">
              <a:buNone/>
              <a:defRPr sz="1317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46" name="Textplatzhalter 35">
            <a:extLst>
              <a:ext uri="{FF2B5EF4-FFF2-40B4-BE49-F238E27FC236}">
                <a16:creationId xmlns:a16="http://schemas.microsoft.com/office/drawing/2014/main" id="{4DCFF8B3-2A37-48E9-9615-D043A67A6EC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8016761" y="6067264"/>
            <a:ext cx="3826622" cy="251484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79549" indent="-179549">
              <a:buNone/>
              <a:defRPr lang="en-US" sz="998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</p:spTree>
    <p:extLst>
      <p:ext uri="{BB962C8B-B14F-4D97-AF65-F5344CB8AC3E}">
        <p14:creationId xmlns:p14="http://schemas.microsoft.com/office/powerpoint/2010/main" val="3230915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Pictures_1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095B66C-538C-47EA-AEBB-EE04E2726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3202" y="1401763"/>
            <a:ext cx="5256213" cy="4645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9" name="Bildplatzhalter 17">
            <a:extLst>
              <a:ext uri="{FF2B5EF4-FFF2-40B4-BE49-F238E27FC236}">
                <a16:creationId xmlns:a16="http://schemas.microsoft.com/office/drawing/2014/main" id="{D45145C6-7B7F-4FF9-BDFA-D2D4A4EAC31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47232" y="4137024"/>
            <a:ext cx="2836863" cy="1909763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FDC20FD-A8E4-4979-9CCB-09E0AAB2B2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777" y="1403351"/>
            <a:ext cx="5726113" cy="2681288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4DBC9FCA-DB73-4E23-9C5E-90B58525C99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8777" y="4137025"/>
            <a:ext cx="2836863" cy="1909763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2" name="Titelplatzhalter 4" title="Headline, Arial 21pt">
            <a:extLst>
              <a:ext uri="{FF2B5EF4-FFF2-40B4-BE49-F238E27FC236}">
                <a16:creationId xmlns:a16="http://schemas.microsoft.com/office/drawing/2014/main" id="{6615F0D4-88A7-44A2-8221-80842021F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de-DE" noProof="0" dirty="0"/>
              <a:t>, Arial 22pt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DB5B322B-937A-4115-8D04-EC41DE513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D4B0FD0A-3E66-4885-B65F-6FBCD4B6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16000" y="6516540"/>
            <a:ext cx="1188000" cy="324000"/>
          </a:xfrm>
        </p:spPr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2052F2C5-9EF7-4047-A117-6702A2FC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6000" y="6516002"/>
            <a:ext cx="1188000" cy="324000"/>
          </a:xfrm>
        </p:spPr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85D3AF19-07CD-6762-460B-66A2A8F3DE3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900002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596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</p:spTree>
    <p:extLst>
      <p:ext uri="{BB962C8B-B14F-4D97-AF65-F5344CB8AC3E}">
        <p14:creationId xmlns:p14="http://schemas.microsoft.com/office/powerpoint/2010/main" val="361458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Pictures_1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DFDAB69-364C-4BA7-A0A3-AF133E419A0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8777" y="1223963"/>
            <a:ext cx="2486153" cy="27019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EC5A2A5-3DBE-4140-9374-5A657AAD2EC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92426" y="1223963"/>
            <a:ext cx="4750185" cy="27019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54822886-E359-4C62-A9E5-34657038698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58777" y="3962402"/>
            <a:ext cx="4150605" cy="23018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3" name="Bildplatzhalter 32">
            <a:extLst>
              <a:ext uri="{FF2B5EF4-FFF2-40B4-BE49-F238E27FC236}">
                <a16:creationId xmlns:a16="http://schemas.microsoft.com/office/drawing/2014/main" id="{2CA10185-A635-4C64-AD4A-D4C7EC47901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55741" y="3961179"/>
            <a:ext cx="3086484" cy="229039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6" name="Textplatzhalter 20">
            <a:extLst>
              <a:ext uri="{FF2B5EF4-FFF2-40B4-BE49-F238E27FC236}">
                <a16:creationId xmlns:a16="http://schemas.microsoft.com/office/drawing/2014/main" id="{FE03CF9E-965C-449F-A7E2-FCF987C1B0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9413" y="1223964"/>
            <a:ext cx="3600001" cy="50403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DB5B322B-937A-4115-8D04-EC41DE513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D4B0FD0A-3E66-4885-B65F-6FBCD4B6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16000" y="6516540"/>
            <a:ext cx="1188000" cy="324000"/>
          </a:xfrm>
        </p:spPr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2052F2C5-9EF7-4047-A117-6702A2FC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6000" y="6516002"/>
            <a:ext cx="1188000" cy="324000"/>
          </a:xfrm>
        </p:spPr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28" name="Textplatzhalter 5">
            <a:extLst>
              <a:ext uri="{FF2B5EF4-FFF2-40B4-BE49-F238E27FC236}">
                <a16:creationId xmlns:a16="http://schemas.microsoft.com/office/drawing/2014/main" id="{A50AC508-86B1-4F97-8764-9D20B17EB3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000" y="900002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596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29" name="Titelplatzhalter 4" title="Headline, Arial 21pt">
            <a:extLst>
              <a:ext uri="{FF2B5EF4-FFF2-40B4-BE49-F238E27FC236}">
                <a16:creationId xmlns:a16="http://schemas.microsoft.com/office/drawing/2014/main" id="{D569A68B-E297-419D-B95E-0F31A95E8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</p:spTree>
    <p:extLst>
      <p:ext uri="{BB962C8B-B14F-4D97-AF65-F5344CB8AC3E}">
        <p14:creationId xmlns:p14="http://schemas.microsoft.com/office/powerpoint/2010/main" val="362748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Picture_1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095B66C-538C-47EA-AEBB-EE04E2726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3202" y="1401763"/>
            <a:ext cx="5256213" cy="4645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FDC20FD-A8E4-4979-9CCB-09E0AAB2B2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777" y="1403352"/>
            <a:ext cx="5726113" cy="4643438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2" name="Titelplatzhalter 4" title="Headline, Arial 21pt">
            <a:extLst>
              <a:ext uri="{FF2B5EF4-FFF2-40B4-BE49-F238E27FC236}">
                <a16:creationId xmlns:a16="http://schemas.microsoft.com/office/drawing/2014/main" id="{6615F0D4-88A7-44A2-8221-80842021F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de-DE" noProof="0" dirty="0"/>
              <a:t>, Arial 22pt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DB5B322B-937A-4115-8D04-EC41DE513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D4B0FD0A-3E66-4885-B65F-6FBCD4B6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16000" y="6516540"/>
            <a:ext cx="1188000" cy="324000"/>
          </a:xfrm>
        </p:spPr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2052F2C5-9EF7-4047-A117-6702A2FC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6000" y="6516002"/>
            <a:ext cx="1188000" cy="324000"/>
          </a:xfrm>
        </p:spPr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41D254D3-E7DD-B9AB-492A-E512AE8CD0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900002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596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</p:spTree>
    <p:extLst>
      <p:ext uri="{BB962C8B-B14F-4D97-AF65-F5344CB8AC3E}">
        <p14:creationId xmlns:p14="http://schemas.microsoft.com/office/powerpoint/2010/main" val="362733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9" name="Picture Placeholder 40"/>
          <p:cNvSpPr>
            <a:spLocks noGrp="1"/>
          </p:cNvSpPr>
          <p:nvPr>
            <p:ph type="pic" sz="quarter" idx="15" hasCustomPrompt="1"/>
          </p:nvPr>
        </p:nvSpPr>
        <p:spPr>
          <a:xfrm>
            <a:off x="360703" y="1620000"/>
            <a:ext cx="1440000" cy="1440000"/>
          </a:xfrm>
          <a:ln w="3175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 dirty="0" err="1"/>
              <a:t>Profilbild</a:t>
            </a:r>
            <a:endParaRPr lang="en-US" noProof="0" dirty="0"/>
          </a:p>
        </p:txBody>
      </p:sp>
      <p:sp>
        <p:nvSpPr>
          <p:cNvPr id="50" name="Text Placeholder 43"/>
          <p:cNvSpPr>
            <a:spLocks noGrp="1"/>
          </p:cNvSpPr>
          <p:nvPr>
            <p:ph type="body" sz="quarter" idx="17" hasCustomPrompt="1"/>
          </p:nvPr>
        </p:nvSpPr>
        <p:spPr>
          <a:xfrm>
            <a:off x="1908001" y="1620002"/>
            <a:ext cx="3960000" cy="25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 err="1"/>
              <a:t>Titel</a:t>
            </a:r>
            <a:endParaRPr lang="en-US" noProof="0" dirty="0"/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18" hasCustomPrompt="1"/>
          </p:nvPr>
        </p:nvSpPr>
        <p:spPr>
          <a:xfrm>
            <a:off x="2232001" y="1908001"/>
            <a:ext cx="3636000" cy="252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/>
              <a:t>Mail</a:t>
            </a:r>
          </a:p>
        </p:txBody>
      </p:sp>
      <p:sp>
        <p:nvSpPr>
          <p:cNvPr id="53" name="Text Placeholder 50"/>
          <p:cNvSpPr>
            <a:spLocks noGrp="1"/>
          </p:cNvSpPr>
          <p:nvPr>
            <p:ph type="body" sz="quarter" idx="23" hasCustomPrompt="1"/>
          </p:nvPr>
        </p:nvSpPr>
        <p:spPr>
          <a:xfrm>
            <a:off x="2232001" y="2196002"/>
            <a:ext cx="3636000" cy="252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 err="1"/>
              <a:t>Telefon</a:t>
            </a:r>
            <a:endParaRPr lang="en-US" noProof="0" dirty="0"/>
          </a:p>
        </p:txBody>
      </p:sp>
      <p:sp>
        <p:nvSpPr>
          <p:cNvPr id="54" name="Text Placeholder 50"/>
          <p:cNvSpPr>
            <a:spLocks noGrp="1"/>
          </p:cNvSpPr>
          <p:nvPr>
            <p:ph type="body" sz="quarter" idx="24" hasCustomPrompt="1"/>
          </p:nvPr>
        </p:nvSpPr>
        <p:spPr>
          <a:xfrm>
            <a:off x="2232001" y="2484001"/>
            <a:ext cx="3636000" cy="252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 err="1"/>
              <a:t>Mobiltelefon</a:t>
            </a:r>
            <a:endParaRPr lang="en-US" noProof="0" dirty="0"/>
          </a:p>
        </p:txBody>
      </p:sp>
      <p:sp>
        <p:nvSpPr>
          <p:cNvPr id="57" name="Text Placeholder 57"/>
          <p:cNvSpPr>
            <a:spLocks noGrp="1"/>
          </p:cNvSpPr>
          <p:nvPr>
            <p:ph type="body" sz="quarter" idx="26" hasCustomPrompt="1"/>
          </p:nvPr>
        </p:nvSpPr>
        <p:spPr>
          <a:xfrm>
            <a:off x="360704" y="3240002"/>
            <a:ext cx="3600000" cy="288000"/>
          </a:xfrm>
        </p:spPr>
        <p:txBody>
          <a:bodyPr/>
          <a:lstStyle>
            <a:lvl1pPr marL="0" indent="0">
              <a:buNone/>
              <a:defRPr b="1"/>
            </a:lvl1pPr>
            <a:lvl2pPr marL="251369" indent="0">
              <a:buNone/>
              <a:defRPr/>
            </a:lvl2pPr>
          </a:lstStyle>
          <a:p>
            <a:pPr lvl="0"/>
            <a:r>
              <a:rPr lang="en-US" noProof="0" dirty="0" err="1"/>
              <a:t>Firmenname</a:t>
            </a:r>
            <a:endParaRPr lang="en-US" noProof="0" dirty="0"/>
          </a:p>
        </p:txBody>
      </p:sp>
      <p:sp>
        <p:nvSpPr>
          <p:cNvPr id="58" name="Text Placeholder 57"/>
          <p:cNvSpPr>
            <a:spLocks noGrp="1"/>
          </p:cNvSpPr>
          <p:nvPr>
            <p:ph type="body" sz="quarter" idx="27" hasCustomPrompt="1"/>
          </p:nvPr>
        </p:nvSpPr>
        <p:spPr>
          <a:xfrm>
            <a:off x="360704" y="3564001"/>
            <a:ext cx="3600000" cy="288000"/>
          </a:xfrm>
        </p:spPr>
        <p:txBody>
          <a:bodyPr/>
          <a:lstStyle>
            <a:lvl1pPr marL="0" indent="0">
              <a:buNone/>
              <a:defRPr b="0" baseline="0"/>
            </a:lvl1pPr>
            <a:lvl2pPr marL="251369" indent="0">
              <a:buNone/>
              <a:defRPr/>
            </a:lvl2pPr>
          </a:lstStyle>
          <a:p>
            <a:pPr lvl="0"/>
            <a:r>
              <a:rPr lang="en-US" noProof="0" dirty="0" err="1"/>
              <a:t>Beispielstraße</a:t>
            </a:r>
            <a:r>
              <a:rPr lang="en-US" noProof="0" dirty="0"/>
              <a:t> 1</a:t>
            </a:r>
          </a:p>
        </p:txBody>
      </p:sp>
      <p:sp>
        <p:nvSpPr>
          <p:cNvPr id="59" name="Text Placeholder 57"/>
          <p:cNvSpPr>
            <a:spLocks noGrp="1"/>
          </p:cNvSpPr>
          <p:nvPr>
            <p:ph type="body" sz="quarter" idx="28" hasCustomPrompt="1"/>
          </p:nvPr>
        </p:nvSpPr>
        <p:spPr>
          <a:xfrm>
            <a:off x="360704" y="3888001"/>
            <a:ext cx="3600000" cy="288000"/>
          </a:xfrm>
        </p:spPr>
        <p:txBody>
          <a:bodyPr/>
          <a:lstStyle>
            <a:lvl1pPr marL="179614" indent="-179614">
              <a:buNone/>
              <a:defRPr sz="1596" b="0"/>
            </a:lvl1pPr>
            <a:lvl2pPr marL="251369" indent="0">
              <a:buNone/>
              <a:defRPr/>
            </a:lvl2pPr>
          </a:lstStyle>
          <a:p>
            <a:pPr marL="180064" indent="-180064"/>
            <a:r>
              <a:rPr lang="en-US" sz="1599" noProof="0" dirty="0">
                <a:solidFill>
                  <a:schemeClr val="tx2"/>
                </a:solidFill>
                <a:ea typeface="+mn-lt"/>
                <a:cs typeface="+mn-lt"/>
              </a:rPr>
              <a:t>Stadt, </a:t>
            </a:r>
            <a:r>
              <a:rPr lang="en-US" sz="1599" noProof="0" dirty="0" err="1">
                <a:solidFill>
                  <a:schemeClr val="tx2"/>
                </a:solidFill>
                <a:ea typeface="+mn-lt"/>
                <a:cs typeface="+mn-lt"/>
              </a:rPr>
              <a:t>Bundesland</a:t>
            </a:r>
            <a:endParaRPr lang="en-US" sz="1599" noProof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60" name="Text Placeholder 57"/>
          <p:cNvSpPr>
            <a:spLocks noGrp="1"/>
          </p:cNvSpPr>
          <p:nvPr>
            <p:ph type="body" sz="quarter" idx="29" hasCustomPrompt="1"/>
          </p:nvPr>
        </p:nvSpPr>
        <p:spPr>
          <a:xfrm>
            <a:off x="360704" y="4212001"/>
            <a:ext cx="3600000" cy="288000"/>
          </a:xfrm>
        </p:spPr>
        <p:txBody>
          <a:bodyPr/>
          <a:lstStyle>
            <a:lvl1pPr marL="0" indent="0">
              <a:buNone/>
              <a:defRPr sz="1596" b="0" baseline="0"/>
            </a:lvl1pPr>
            <a:lvl2pPr marL="251369" indent="0">
              <a:buNone/>
              <a:defRPr/>
            </a:lvl2pPr>
          </a:lstStyle>
          <a:p>
            <a:pPr lvl="0"/>
            <a:r>
              <a:rPr lang="en-US" sz="1599" noProof="0" dirty="0">
                <a:solidFill>
                  <a:schemeClr val="tx2"/>
                </a:solidFill>
                <a:ea typeface="+mn-lt"/>
                <a:cs typeface="+mn-lt"/>
              </a:rPr>
              <a:t>Land</a:t>
            </a:r>
            <a:endParaRPr lang="en-US" noProof="0" dirty="0"/>
          </a:p>
        </p:txBody>
      </p:sp>
      <p:sp>
        <p:nvSpPr>
          <p:cNvPr id="61" name="Pfeil: Chevron 20">
            <a:extLst>
              <a:ext uri="{FF2B5EF4-FFF2-40B4-BE49-F238E27FC236}">
                <a16:creationId xmlns:a16="http://schemas.microsoft.com/office/drawing/2014/main" id="{1C947A0E-205B-4070-99A2-FB86D7BA4FE8}"/>
              </a:ext>
            </a:extLst>
          </p:cNvPr>
          <p:cNvSpPr/>
          <p:nvPr/>
        </p:nvSpPr>
        <p:spPr>
          <a:xfrm>
            <a:off x="2036400" y="5221573"/>
            <a:ext cx="423949" cy="612000"/>
          </a:xfrm>
          <a:prstGeom prst="chevron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908" tIns="35908" rIns="35908" bIns="359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9549" indent="-179549" algn="ctr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en-US" sz="1397" noProof="0">
              <a:solidFill>
                <a:schemeClr val="tx2"/>
              </a:solidFill>
            </a:endParaRPr>
          </a:p>
        </p:txBody>
      </p:sp>
      <p:sp>
        <p:nvSpPr>
          <p:cNvPr id="62" name="Pfeil: Chevron 21">
            <a:extLst>
              <a:ext uri="{FF2B5EF4-FFF2-40B4-BE49-F238E27FC236}">
                <a16:creationId xmlns:a16="http://schemas.microsoft.com/office/drawing/2014/main" id="{BC4DB7D9-E0DA-4E6D-B832-6CA3F1877B7F}"/>
              </a:ext>
            </a:extLst>
          </p:cNvPr>
          <p:cNvSpPr/>
          <p:nvPr/>
        </p:nvSpPr>
        <p:spPr>
          <a:xfrm>
            <a:off x="2341197" y="5221573"/>
            <a:ext cx="423949" cy="612000"/>
          </a:xfrm>
          <a:prstGeom prst="chevron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908" tIns="35908" rIns="35908" bIns="359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9549" indent="-179549" algn="ctr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en-US" sz="1397" noProof="0">
              <a:solidFill>
                <a:schemeClr val="tx2"/>
              </a:solidFill>
            </a:endParaRPr>
          </a:p>
        </p:txBody>
      </p:sp>
      <p:sp>
        <p:nvSpPr>
          <p:cNvPr id="63" name="Pfeil: Fünfeck 19">
            <a:extLst>
              <a:ext uri="{FF2B5EF4-FFF2-40B4-BE49-F238E27FC236}">
                <a16:creationId xmlns:a16="http://schemas.microsoft.com/office/drawing/2014/main" id="{17C39377-4306-4E02-899F-B6FBAB5220DE}"/>
              </a:ext>
            </a:extLst>
          </p:cNvPr>
          <p:cNvSpPr/>
          <p:nvPr/>
        </p:nvSpPr>
        <p:spPr>
          <a:xfrm>
            <a:off x="359999" y="5221573"/>
            <a:ext cx="1795550" cy="612000"/>
          </a:xfrm>
          <a:prstGeom prst="homePlate">
            <a:avLst>
              <a:gd name="adj" fmla="val 37775"/>
            </a:avLst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908" tIns="35908" rIns="35908" bIns="359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en-US" sz="2394" b="1" noProof="0" dirty="0">
                <a:solidFill>
                  <a:schemeClr val="bg1"/>
                </a:solidFill>
              </a:rPr>
              <a:t>Visit 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9999" y="215775"/>
            <a:ext cx="7920000" cy="648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2195" b="1" noProof="0" dirty="0">
                <a:solidFill>
                  <a:schemeClr val="tx2"/>
                </a:solidFill>
              </a:rPr>
              <a:t>Get in touch</a:t>
            </a:r>
          </a:p>
        </p:txBody>
      </p:sp>
      <p:sp>
        <p:nvSpPr>
          <p:cNvPr id="33" name="Picture Placeholder 40">
            <a:extLst>
              <a:ext uri="{FF2B5EF4-FFF2-40B4-BE49-F238E27FC236}">
                <a16:creationId xmlns:a16="http://schemas.microsoft.com/office/drawing/2014/main" id="{1DBF2F54-2514-4EEF-BA38-695EF4D24EA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94778" y="1620000"/>
            <a:ext cx="1440000" cy="1440000"/>
          </a:xfrm>
          <a:ln w="3175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 dirty="0" err="1"/>
              <a:t>Profilbild</a:t>
            </a:r>
            <a:endParaRPr lang="en-US" noProof="0" dirty="0"/>
          </a:p>
        </p:txBody>
      </p:sp>
      <p:sp>
        <p:nvSpPr>
          <p:cNvPr id="34" name="Text Placeholder 43">
            <a:extLst>
              <a:ext uri="{FF2B5EF4-FFF2-40B4-BE49-F238E27FC236}">
                <a16:creationId xmlns:a16="http://schemas.microsoft.com/office/drawing/2014/main" id="{7C953FAD-F619-46AF-BE63-A85C4826C04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42075" y="1620002"/>
            <a:ext cx="3960000" cy="25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Titel</a:t>
            </a:r>
          </a:p>
        </p:txBody>
      </p:sp>
      <p:sp>
        <p:nvSpPr>
          <p:cNvPr id="35" name="Text Placeholder 50">
            <a:extLst>
              <a:ext uri="{FF2B5EF4-FFF2-40B4-BE49-F238E27FC236}">
                <a16:creationId xmlns:a16="http://schemas.microsoft.com/office/drawing/2014/main" id="{97D92DDB-7437-46DD-9AA1-BB998F03D5A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66075" y="1908001"/>
            <a:ext cx="3636000" cy="252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/>
              <a:t>Mail</a:t>
            </a:r>
          </a:p>
        </p:txBody>
      </p:sp>
      <p:sp>
        <p:nvSpPr>
          <p:cNvPr id="36" name="Text Placeholder 50">
            <a:extLst>
              <a:ext uri="{FF2B5EF4-FFF2-40B4-BE49-F238E27FC236}">
                <a16:creationId xmlns:a16="http://schemas.microsoft.com/office/drawing/2014/main" id="{B712A976-9C68-4634-B688-2FD3A366518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66075" y="2196002"/>
            <a:ext cx="3636000" cy="252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 err="1"/>
              <a:t>Telefon</a:t>
            </a:r>
            <a:endParaRPr lang="en-US" noProof="0" dirty="0"/>
          </a:p>
        </p:txBody>
      </p:sp>
      <p:sp>
        <p:nvSpPr>
          <p:cNvPr id="37" name="Text Placeholder 50">
            <a:extLst>
              <a:ext uri="{FF2B5EF4-FFF2-40B4-BE49-F238E27FC236}">
                <a16:creationId xmlns:a16="http://schemas.microsoft.com/office/drawing/2014/main" id="{4F70DAED-D691-43D5-B188-5CD45200A9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66075" y="2484001"/>
            <a:ext cx="3636000" cy="252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 err="1"/>
              <a:t>Mobiltelefon</a:t>
            </a:r>
            <a:endParaRPr lang="en-US" noProof="0" dirty="0"/>
          </a:p>
        </p:txBody>
      </p:sp>
      <p:sp>
        <p:nvSpPr>
          <p:cNvPr id="38" name="Text Placeholder 57">
            <a:extLst>
              <a:ext uri="{FF2B5EF4-FFF2-40B4-BE49-F238E27FC236}">
                <a16:creationId xmlns:a16="http://schemas.microsoft.com/office/drawing/2014/main" id="{4EC6E0A1-FC9D-4804-A1B9-7C79CF399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94778" y="3240002"/>
            <a:ext cx="3600000" cy="288000"/>
          </a:xfrm>
        </p:spPr>
        <p:txBody>
          <a:bodyPr/>
          <a:lstStyle>
            <a:lvl1pPr marL="0" indent="0">
              <a:buNone/>
              <a:defRPr b="1"/>
            </a:lvl1pPr>
            <a:lvl2pPr marL="251369" indent="0">
              <a:buNone/>
              <a:defRPr/>
            </a:lvl2pPr>
          </a:lstStyle>
          <a:p>
            <a:pPr lvl="0"/>
            <a:r>
              <a:rPr lang="en-US" noProof="0" dirty="0" err="1"/>
              <a:t>Firmenname</a:t>
            </a:r>
            <a:endParaRPr lang="en-US" noProof="0" dirty="0"/>
          </a:p>
        </p:txBody>
      </p:sp>
      <p:sp>
        <p:nvSpPr>
          <p:cNvPr id="39" name="Text Placeholder 57">
            <a:extLst>
              <a:ext uri="{FF2B5EF4-FFF2-40B4-BE49-F238E27FC236}">
                <a16:creationId xmlns:a16="http://schemas.microsoft.com/office/drawing/2014/main" id="{2909D3CE-106A-4D4A-B0F1-20100AB6579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4778" y="3564001"/>
            <a:ext cx="3600000" cy="288000"/>
          </a:xfrm>
        </p:spPr>
        <p:txBody>
          <a:bodyPr/>
          <a:lstStyle>
            <a:lvl1pPr marL="0" indent="0">
              <a:buNone/>
              <a:defRPr b="0" baseline="0"/>
            </a:lvl1pPr>
            <a:lvl2pPr marL="251369" indent="0">
              <a:buNone/>
              <a:defRPr/>
            </a:lvl2pPr>
          </a:lstStyle>
          <a:p>
            <a:pPr lvl="0"/>
            <a:r>
              <a:rPr lang="en-US" noProof="0" dirty="0" err="1"/>
              <a:t>Beispielstraße</a:t>
            </a:r>
            <a:r>
              <a:rPr lang="en-US" noProof="0" dirty="0"/>
              <a:t> 1</a:t>
            </a:r>
          </a:p>
        </p:txBody>
      </p:sp>
      <p:sp>
        <p:nvSpPr>
          <p:cNvPr id="40" name="Text Placeholder 57">
            <a:extLst>
              <a:ext uri="{FF2B5EF4-FFF2-40B4-BE49-F238E27FC236}">
                <a16:creationId xmlns:a16="http://schemas.microsoft.com/office/drawing/2014/main" id="{AF4B534A-C0A7-4F0C-B60A-6C33F60449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4778" y="3888001"/>
            <a:ext cx="3600000" cy="288000"/>
          </a:xfrm>
        </p:spPr>
        <p:txBody>
          <a:bodyPr/>
          <a:lstStyle>
            <a:lvl1pPr marL="179614" indent="-179614">
              <a:buNone/>
              <a:defRPr sz="1596" b="0"/>
            </a:lvl1pPr>
            <a:lvl2pPr marL="251369" indent="0">
              <a:buNone/>
              <a:defRPr/>
            </a:lvl2pPr>
          </a:lstStyle>
          <a:p>
            <a:pPr marL="180064" indent="-180064"/>
            <a:r>
              <a:rPr lang="en-US" sz="1599" noProof="0" dirty="0">
                <a:solidFill>
                  <a:schemeClr val="tx2"/>
                </a:solidFill>
                <a:ea typeface="+mn-lt"/>
                <a:cs typeface="+mn-lt"/>
              </a:rPr>
              <a:t>Stadt, </a:t>
            </a:r>
            <a:r>
              <a:rPr lang="en-US" sz="1599" noProof="0" dirty="0" err="1">
                <a:solidFill>
                  <a:schemeClr val="tx2"/>
                </a:solidFill>
                <a:ea typeface="+mn-lt"/>
                <a:cs typeface="+mn-lt"/>
              </a:rPr>
              <a:t>Bundesland</a:t>
            </a:r>
            <a:endParaRPr lang="en-US" sz="1599" noProof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41" name="Text Placeholder 57">
            <a:extLst>
              <a:ext uri="{FF2B5EF4-FFF2-40B4-BE49-F238E27FC236}">
                <a16:creationId xmlns:a16="http://schemas.microsoft.com/office/drawing/2014/main" id="{E19F99D4-6FF0-4FF2-AA4B-56924CBE88D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94778" y="4212001"/>
            <a:ext cx="3600000" cy="288000"/>
          </a:xfrm>
        </p:spPr>
        <p:txBody>
          <a:bodyPr/>
          <a:lstStyle>
            <a:lvl1pPr marL="0" indent="0">
              <a:buNone/>
              <a:defRPr sz="1596" b="0" baseline="0"/>
            </a:lvl1pPr>
            <a:lvl2pPr marL="251369" indent="0">
              <a:buNone/>
              <a:defRPr/>
            </a:lvl2pPr>
          </a:lstStyle>
          <a:p>
            <a:pPr lvl="0"/>
            <a:r>
              <a:rPr lang="en-US" sz="1599" noProof="0" dirty="0">
                <a:solidFill>
                  <a:schemeClr val="tx2"/>
                </a:solidFill>
                <a:ea typeface="+mn-lt"/>
                <a:cs typeface="+mn-lt"/>
              </a:rPr>
              <a:t>Land</a:t>
            </a:r>
            <a:endParaRPr lang="en-US" noProof="0" dirty="0"/>
          </a:p>
        </p:txBody>
      </p:sp>
      <p:pic>
        <p:nvPicPr>
          <p:cNvPr id="27" name="Graphic 4" descr="Smartphone mit einfarbiger Füllung">
            <a:extLst>
              <a:ext uri="{FF2B5EF4-FFF2-40B4-BE49-F238E27FC236}">
                <a16:creationId xmlns:a16="http://schemas.microsoft.com/office/drawing/2014/main" id="{EE9E3272-F07A-4817-A7B5-0C87FDB48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54719" y="2484002"/>
            <a:ext cx="248997" cy="255415"/>
          </a:xfrm>
          <a:prstGeom prst="rect">
            <a:avLst/>
          </a:prstGeom>
        </p:spPr>
      </p:pic>
      <p:pic>
        <p:nvPicPr>
          <p:cNvPr id="28" name="Graphic 5" descr="Umschlag mit einfarbiger Füllung">
            <a:extLst>
              <a:ext uri="{FF2B5EF4-FFF2-40B4-BE49-F238E27FC236}">
                <a16:creationId xmlns:a16="http://schemas.microsoft.com/office/drawing/2014/main" id="{9E8793FD-0CC3-4278-90FD-893AA7604E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5193" y="1928263"/>
            <a:ext cx="248996" cy="247474"/>
          </a:xfrm>
          <a:prstGeom prst="rect">
            <a:avLst/>
          </a:prstGeom>
        </p:spPr>
      </p:pic>
      <p:pic>
        <p:nvPicPr>
          <p:cNvPr id="29" name="Bildplatzhalter 11" descr="Receiver mit einfarbiger Füllung">
            <a:extLst>
              <a:ext uri="{FF2B5EF4-FFF2-40B4-BE49-F238E27FC236}">
                <a16:creationId xmlns:a16="http://schemas.microsoft.com/office/drawing/2014/main" id="{138ADBE2-7071-44BC-BE51-3ACBEC76E3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5" r="55"/>
          <a:stretch>
            <a:fillRect/>
          </a:stretch>
        </p:blipFill>
        <p:spPr>
          <a:xfrm rot="1589293">
            <a:off x="1960030" y="2203283"/>
            <a:ext cx="228490" cy="228490"/>
          </a:xfrm>
          <a:prstGeom prst="rect">
            <a:avLst/>
          </a:prstGeom>
          <a:ln w="3175">
            <a:noFill/>
          </a:ln>
        </p:spPr>
      </p:pic>
      <p:pic>
        <p:nvPicPr>
          <p:cNvPr id="30" name="Graphic 4" descr="Smartphone mit einfarbiger Füllung">
            <a:extLst>
              <a:ext uri="{FF2B5EF4-FFF2-40B4-BE49-F238E27FC236}">
                <a16:creationId xmlns:a16="http://schemas.microsoft.com/office/drawing/2014/main" id="{4B9F969A-DDC6-44ED-B5E7-CDE1FB7D1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5099" y="2484002"/>
            <a:ext cx="248997" cy="255415"/>
          </a:xfrm>
          <a:prstGeom prst="rect">
            <a:avLst/>
          </a:prstGeom>
        </p:spPr>
      </p:pic>
      <p:pic>
        <p:nvPicPr>
          <p:cNvPr id="31" name="Graphic 5" descr="Umschlag mit einfarbiger Füllung">
            <a:extLst>
              <a:ext uri="{FF2B5EF4-FFF2-40B4-BE49-F238E27FC236}">
                <a16:creationId xmlns:a16="http://schemas.microsoft.com/office/drawing/2014/main" id="{0D1F5DA3-75D9-4105-A787-D7E9A34C1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5573" y="1928263"/>
            <a:ext cx="248996" cy="247474"/>
          </a:xfrm>
          <a:prstGeom prst="rect">
            <a:avLst/>
          </a:prstGeom>
        </p:spPr>
      </p:pic>
      <p:pic>
        <p:nvPicPr>
          <p:cNvPr id="32" name="Bildplatzhalter 11" descr="Receiver mit einfarbiger Füllung">
            <a:extLst>
              <a:ext uri="{FF2B5EF4-FFF2-40B4-BE49-F238E27FC236}">
                <a16:creationId xmlns:a16="http://schemas.microsoft.com/office/drawing/2014/main" id="{A6DC7A35-F768-4684-A8F0-6C319E285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5" r="55"/>
          <a:stretch>
            <a:fillRect/>
          </a:stretch>
        </p:blipFill>
        <p:spPr>
          <a:xfrm rot="1589293">
            <a:off x="7880410" y="2203283"/>
            <a:ext cx="228490" cy="228490"/>
          </a:xfrm>
          <a:prstGeom prst="rect">
            <a:avLst/>
          </a:prstGeom>
          <a:ln w="3175">
            <a:noFill/>
          </a:ln>
        </p:spPr>
      </p:pic>
      <p:sp>
        <p:nvSpPr>
          <p:cNvPr id="42" name="TextBox 32">
            <a:extLst>
              <a:ext uri="{FF2B5EF4-FFF2-40B4-BE49-F238E27FC236}">
                <a16:creationId xmlns:a16="http://schemas.microsoft.com/office/drawing/2014/main" id="{13F64B5C-434F-42C6-8892-BDE48EE32662}"/>
              </a:ext>
            </a:extLst>
          </p:cNvPr>
          <p:cNvSpPr txBox="1"/>
          <p:nvPr/>
        </p:nvSpPr>
        <p:spPr>
          <a:xfrm>
            <a:off x="360001" y="5904000"/>
            <a:ext cx="2773097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35908" tIns="35908" rIns="35908" bIns="359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9255" indent="-179255"/>
            <a:r>
              <a:rPr lang="de-DE" sz="1596" dirty="0">
                <a:solidFill>
                  <a:schemeClr val="tx2"/>
                </a:solidFill>
                <a:cs typeface="Segoe 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www.grenzebach.com</a:t>
            </a:r>
            <a:r>
              <a:rPr lang="de-DE" sz="1596" dirty="0">
                <a:solidFill>
                  <a:schemeClr val="tx2"/>
                </a:solidFill>
                <a:cs typeface="Segoe UI"/>
              </a:rPr>
              <a:t> </a:t>
            </a:r>
            <a:endParaRPr lang="de-DE" sz="1795" dirty="0">
              <a:solidFill>
                <a:schemeClr val="tx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0358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7392FE19-3E72-4CFD-9DEA-CB994F71D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" y="414"/>
            <a:ext cx="12167140" cy="68403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4C8B42F5-D6C1-4AC7-A1B3-95B160F71F36}"/>
              </a:ext>
            </a:extLst>
          </p:cNvPr>
          <p:cNvSpPr/>
          <p:nvPr/>
        </p:nvSpPr>
        <p:spPr>
          <a:xfrm>
            <a:off x="0" y="0"/>
            <a:ext cx="12168188" cy="6840538"/>
          </a:xfrm>
          <a:prstGeom prst="rect">
            <a:avLst/>
          </a:prstGeom>
          <a:solidFill>
            <a:schemeClr val="accent2">
              <a:alpha val="10000"/>
            </a:schemeClr>
          </a:solidFill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908" tIns="35908" rIns="35908" bIns="359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9549" indent="-179549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596" dirty="0">
              <a:solidFill>
                <a:schemeClr val="tx2"/>
              </a:solidFill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C23FB218-1EBB-4EC0-9913-D742A2CB7B7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8733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68" imgH="668" progId="TCLayout.ActiveDocument.1">
                  <p:embed/>
                </p:oleObj>
              </mc:Choice>
              <mc:Fallback>
                <p:oleObj name="think-cell Folie" r:id="rId4" imgW="668" imgH="66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C23FB218-1EBB-4EC0-9913-D742A2CB7B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001" y="5256000"/>
            <a:ext cx="9360000" cy="648000"/>
          </a:xfrm>
          <a:prstGeom prst="rect">
            <a:avLst/>
          </a:prstGeom>
        </p:spPr>
        <p:txBody>
          <a:bodyPr lIns="36000" tIns="0" rIns="36000" bIns="0" anchor="b"/>
          <a:lstStyle>
            <a:lvl1pPr marL="0" indent="0">
              <a:buFontTx/>
              <a:buNone/>
              <a:defRPr sz="1995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Vorname</a:t>
            </a:r>
            <a:r>
              <a:rPr lang="en-US" noProof="0" dirty="0"/>
              <a:t> und </a:t>
            </a:r>
            <a:r>
              <a:rPr lang="en-US" noProof="0" dirty="0" err="1"/>
              <a:t>Nachname</a:t>
            </a:r>
            <a:r>
              <a:rPr lang="en-US" noProof="0" dirty="0"/>
              <a:t>, Arial 20pt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001" y="5904001"/>
            <a:ext cx="9360000" cy="216000"/>
          </a:xfrm>
          <a:prstGeom prst="rect">
            <a:avLst/>
          </a:prstGeom>
        </p:spPr>
        <p:txBody>
          <a:bodyPr lIns="36000" tIns="0" rIns="36000" bIns="0" anchor="t"/>
          <a:lstStyle>
            <a:lvl1pPr marL="0" indent="0">
              <a:buFontTx/>
              <a:buNone/>
              <a:defRPr sz="1397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Position | </a:t>
            </a:r>
            <a:r>
              <a:rPr lang="en-US" noProof="0" dirty="0" err="1"/>
              <a:t>Telefon</a:t>
            </a:r>
            <a:r>
              <a:rPr lang="en-US" noProof="0" dirty="0"/>
              <a:t> | E-Mail, Arial 14pt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864000" y="4464001"/>
            <a:ext cx="25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35908" tIns="0" rIns="0" bIns="0" rtlCol="0" anchor="ctr">
            <a:noAutofit/>
          </a:bodyPr>
          <a:lstStyle/>
          <a:p>
            <a:r>
              <a:rPr lang="en-US" sz="1995" cap="all" spc="798" baseline="0" noProof="0" dirty="0" err="1">
                <a:solidFill>
                  <a:schemeClr val="tx2"/>
                </a:solidFill>
              </a:rPr>
              <a:t>Danke</a:t>
            </a:r>
            <a:endParaRPr lang="en-US" sz="1995" cap="all" spc="798" baseline="0" noProof="0" dirty="0">
              <a:solidFill>
                <a:schemeClr val="tx2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A1CF20B-A821-4675-92EB-B106C5A5E7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92" y="1980001"/>
            <a:ext cx="5040000" cy="111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0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ign Stand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1" y="6264001"/>
            <a:ext cx="11449413" cy="252000"/>
          </a:xfrm>
          <a:prstGeom prst="rect">
            <a:avLst/>
          </a:prstGeom>
        </p:spPr>
        <p:txBody>
          <a:bodyPr lIns="36000" tIns="0" rIns="36000" bIns="0" anchor="ctr"/>
          <a:lstStyle>
            <a:lvl1pPr marL="0" indent="0">
              <a:buFontTx/>
              <a:buNone/>
              <a:tabLst>
                <a:tab pos="430918" algn="l"/>
              </a:tabLst>
              <a:defRPr sz="798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Quelle:	Marketing-</a:t>
            </a:r>
            <a:r>
              <a:rPr lang="en-US" noProof="0" dirty="0" err="1"/>
              <a:t>Abteilung</a:t>
            </a:r>
            <a:endParaRPr lang="en-US" noProof="0" dirty="0"/>
          </a:p>
        </p:txBody>
      </p:sp>
      <p:sp>
        <p:nvSpPr>
          <p:cNvPr id="32" name="Rechteck 31"/>
          <p:cNvSpPr/>
          <p:nvPr/>
        </p:nvSpPr>
        <p:spPr>
          <a:xfrm>
            <a:off x="360000" y="216000"/>
            <a:ext cx="9000000" cy="64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2195" b="1" noProof="0" dirty="0">
                <a:solidFill>
                  <a:schemeClr val="tx2"/>
                </a:solidFill>
              </a:rPr>
              <a:t>Zu </a:t>
            </a:r>
            <a:r>
              <a:rPr lang="en-US" sz="2195" b="1" noProof="0" dirty="0" err="1">
                <a:solidFill>
                  <a:schemeClr val="tx2"/>
                </a:solidFill>
              </a:rPr>
              <a:t>berücksichtigende</a:t>
            </a:r>
            <a:r>
              <a:rPr lang="en-US" sz="2195" b="1" noProof="0" dirty="0">
                <a:solidFill>
                  <a:schemeClr val="tx2"/>
                </a:solidFill>
              </a:rPr>
              <a:t> </a:t>
            </a:r>
            <a:r>
              <a:rPr lang="en-US" sz="2195" b="1" noProof="0" dirty="0" err="1">
                <a:solidFill>
                  <a:schemeClr val="tx2"/>
                </a:solidFill>
              </a:rPr>
              <a:t>Designstandards</a:t>
            </a:r>
            <a:endParaRPr lang="en-US" sz="2195" b="1" noProof="0" dirty="0">
              <a:solidFill>
                <a:schemeClr val="tx2"/>
              </a:solidFill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088FCE9A-71E4-4301-88A0-4680B9DE8412}"/>
              </a:ext>
            </a:extLst>
          </p:cNvPr>
          <p:cNvSpPr txBox="1"/>
          <p:nvPr/>
        </p:nvSpPr>
        <p:spPr>
          <a:xfrm>
            <a:off x="360000" y="1368001"/>
            <a:ext cx="3888000" cy="360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596" b="1" noProof="0" dirty="0" err="1">
                <a:solidFill>
                  <a:schemeClr val="tx2"/>
                </a:solidFill>
              </a:rPr>
              <a:t>Standardfarben</a:t>
            </a:r>
            <a:endParaRPr lang="en-US" sz="1596" b="1" noProof="0" dirty="0">
              <a:solidFill>
                <a:schemeClr val="tx2"/>
              </a:solidFill>
            </a:endParaRP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98538762-74F0-4AF4-9C7C-F895CA7EEF70}"/>
              </a:ext>
            </a:extLst>
          </p:cNvPr>
          <p:cNvCxnSpPr>
            <a:cxnSpLocks/>
          </p:cNvCxnSpPr>
          <p:nvPr/>
        </p:nvCxnSpPr>
        <p:spPr>
          <a:xfrm flipH="1">
            <a:off x="4248000" y="1224000"/>
            <a:ext cx="0" cy="5040000"/>
          </a:xfrm>
          <a:prstGeom prst="line">
            <a:avLst/>
          </a:prstGeom>
          <a:ln w="158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A39B8426-52EB-4D54-9009-1D7F15C9486C}"/>
              </a:ext>
            </a:extLst>
          </p:cNvPr>
          <p:cNvCxnSpPr>
            <a:cxnSpLocks/>
          </p:cNvCxnSpPr>
          <p:nvPr/>
        </p:nvCxnSpPr>
        <p:spPr>
          <a:xfrm flipH="1">
            <a:off x="8136000" y="1224000"/>
            <a:ext cx="0" cy="5040000"/>
          </a:xfrm>
          <a:prstGeom prst="line">
            <a:avLst/>
          </a:prstGeom>
          <a:ln w="158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088FCE9A-71E4-4301-88A0-4680B9DE8412}"/>
              </a:ext>
            </a:extLst>
          </p:cNvPr>
          <p:cNvSpPr txBox="1"/>
          <p:nvPr/>
        </p:nvSpPr>
        <p:spPr>
          <a:xfrm>
            <a:off x="4248000" y="1368001"/>
            <a:ext cx="3888000" cy="360000"/>
          </a:xfrm>
          <a:prstGeom prst="rect">
            <a:avLst/>
          </a:prstGeom>
          <a:noFill/>
        </p:spPr>
        <p:txBody>
          <a:bodyPr wrap="square" lIns="287267" tIns="35908" rIns="35908" bIns="35908" rtlCol="0" anchor="ctr">
            <a:noAutofit/>
          </a:bodyPr>
          <a:lstStyle/>
          <a:p>
            <a:r>
              <a:rPr lang="en-US" sz="1596" b="1" noProof="0" dirty="0" err="1">
                <a:solidFill>
                  <a:schemeClr val="tx2"/>
                </a:solidFill>
              </a:rPr>
              <a:t>Schriften</a:t>
            </a:r>
            <a:endParaRPr lang="en-US" sz="1596" b="1" noProof="0" dirty="0">
              <a:solidFill>
                <a:schemeClr val="tx2"/>
              </a:solidFill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088FCE9A-71E4-4301-88A0-4680B9DE8412}"/>
              </a:ext>
            </a:extLst>
          </p:cNvPr>
          <p:cNvSpPr txBox="1"/>
          <p:nvPr/>
        </p:nvSpPr>
        <p:spPr>
          <a:xfrm>
            <a:off x="8136002" y="1368001"/>
            <a:ext cx="3673413" cy="360000"/>
          </a:xfrm>
          <a:prstGeom prst="rect">
            <a:avLst/>
          </a:prstGeom>
          <a:noFill/>
        </p:spPr>
        <p:txBody>
          <a:bodyPr wrap="square" lIns="287267" tIns="35908" rIns="35908" bIns="35908" rtlCol="0" anchor="ctr">
            <a:noAutofit/>
          </a:bodyPr>
          <a:lstStyle/>
          <a:p>
            <a:r>
              <a:rPr lang="en-US" sz="1596" b="1" noProof="0" dirty="0" err="1">
                <a:solidFill>
                  <a:schemeClr val="tx2"/>
                </a:solidFill>
              </a:rPr>
              <a:t>Bilder</a:t>
            </a:r>
            <a:endParaRPr lang="en-US" sz="1596" b="1" noProof="0" dirty="0">
              <a:solidFill>
                <a:schemeClr val="tx2"/>
              </a:solidFill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F3393BCD-FF4A-4CFB-8936-D13296885DD2}"/>
              </a:ext>
            </a:extLst>
          </p:cNvPr>
          <p:cNvSpPr/>
          <p:nvPr/>
        </p:nvSpPr>
        <p:spPr>
          <a:xfrm>
            <a:off x="360000" y="2016001"/>
            <a:ext cx="682586" cy="21600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5" noProof="0">
              <a:effectLst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BB04D9C3-2C0D-4926-8DE3-B8F0B3E2C0B9}"/>
              </a:ext>
            </a:extLst>
          </p:cNvPr>
          <p:cNvSpPr txBox="1"/>
          <p:nvPr/>
        </p:nvSpPr>
        <p:spPr>
          <a:xfrm>
            <a:off x="1154827" y="2016001"/>
            <a:ext cx="1258021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>
                <a:solidFill>
                  <a:schemeClr val="tx2"/>
                </a:solidFill>
              </a:rPr>
              <a:t>255 </a:t>
            </a:r>
            <a:r>
              <a:rPr lang="en-US" sz="1397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255</a:t>
            </a:r>
            <a:r>
              <a:rPr lang="en-US" sz="1397" noProof="0">
                <a:solidFill>
                  <a:schemeClr val="tx2"/>
                </a:solidFill>
              </a:rPr>
              <a:t> </a:t>
            </a:r>
            <a:r>
              <a:rPr lang="en-US" sz="1397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255</a:t>
            </a:r>
            <a:endParaRPr lang="en-US" sz="1397" noProof="0">
              <a:solidFill>
                <a:schemeClr val="tx2"/>
              </a:solidFill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F791D5B7-C95A-4119-A346-F087E18F19FD}"/>
              </a:ext>
            </a:extLst>
          </p:cNvPr>
          <p:cNvSpPr txBox="1"/>
          <p:nvPr/>
        </p:nvSpPr>
        <p:spPr>
          <a:xfrm>
            <a:off x="2378825" y="2016001"/>
            <a:ext cx="1684046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>
                <a:solidFill>
                  <a:schemeClr val="tx2"/>
                </a:solidFill>
              </a:rPr>
              <a:t>Weiß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D34832D5-A3AE-4D6A-9C3E-D89A694B92A2}"/>
              </a:ext>
            </a:extLst>
          </p:cNvPr>
          <p:cNvSpPr/>
          <p:nvPr/>
        </p:nvSpPr>
        <p:spPr>
          <a:xfrm>
            <a:off x="360000" y="2304564"/>
            <a:ext cx="682586" cy="216000"/>
          </a:xfrm>
          <a:prstGeom prst="rect">
            <a:avLst/>
          </a:prstGeom>
          <a:solidFill>
            <a:srgbClr val="282D32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5" noProof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278B48FE-3293-4E12-BCD6-2F2B6B094FFE}"/>
              </a:ext>
            </a:extLst>
          </p:cNvPr>
          <p:cNvSpPr txBox="1"/>
          <p:nvPr/>
        </p:nvSpPr>
        <p:spPr>
          <a:xfrm>
            <a:off x="1154827" y="2304002"/>
            <a:ext cx="1258021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>
                <a:solidFill>
                  <a:schemeClr val="tx2"/>
                </a:solidFill>
              </a:rPr>
              <a:t>040 </a:t>
            </a:r>
            <a:r>
              <a:rPr lang="en-US" sz="1397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045</a:t>
            </a:r>
            <a:r>
              <a:rPr lang="en-US" sz="1397" noProof="0" dirty="0">
                <a:solidFill>
                  <a:schemeClr val="tx2"/>
                </a:solidFill>
              </a:rPr>
              <a:t> </a:t>
            </a:r>
            <a:r>
              <a:rPr lang="en-US" sz="1397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050</a:t>
            </a:r>
            <a:endParaRPr lang="en-US" sz="1397" noProof="0" dirty="0">
              <a:solidFill>
                <a:schemeClr val="tx2"/>
              </a:solidFill>
            </a:endParaRP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4A912EA-99EC-4165-AF5D-99285440DA9A}"/>
              </a:ext>
            </a:extLst>
          </p:cNvPr>
          <p:cNvSpPr txBox="1"/>
          <p:nvPr/>
        </p:nvSpPr>
        <p:spPr>
          <a:xfrm>
            <a:off x="2378825" y="2304002"/>
            <a:ext cx="1906588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>
                <a:solidFill>
                  <a:schemeClr val="tx2"/>
                </a:solidFill>
              </a:rPr>
              <a:t>Dunkel </a:t>
            </a:r>
            <a:r>
              <a:rPr lang="en-US" sz="1397" noProof="0" dirty="0" err="1">
                <a:solidFill>
                  <a:schemeClr val="tx2"/>
                </a:solidFill>
              </a:rPr>
              <a:t>Anthrazitgrau</a:t>
            </a:r>
            <a:endParaRPr lang="en-US" sz="1397" noProof="0" dirty="0">
              <a:solidFill>
                <a:schemeClr val="tx2"/>
              </a:solidFill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39E3A2-ECAA-4BA8-AFCB-1BE0AC419122}"/>
              </a:ext>
            </a:extLst>
          </p:cNvPr>
          <p:cNvSpPr/>
          <p:nvPr/>
        </p:nvSpPr>
        <p:spPr>
          <a:xfrm>
            <a:off x="360000" y="2592002"/>
            <a:ext cx="682586" cy="21600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5" noProof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3F845032-0DB9-4AB1-BD3E-02D8E269B6BD}"/>
              </a:ext>
            </a:extLst>
          </p:cNvPr>
          <p:cNvSpPr txBox="1"/>
          <p:nvPr/>
        </p:nvSpPr>
        <p:spPr>
          <a:xfrm>
            <a:off x="1154827" y="2592002"/>
            <a:ext cx="1258021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>
                <a:solidFill>
                  <a:schemeClr val="tx2"/>
                </a:solidFill>
              </a:rPr>
              <a:t>240 </a:t>
            </a:r>
            <a:r>
              <a:rPr lang="en-US" sz="1397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240</a:t>
            </a:r>
            <a:r>
              <a:rPr lang="en-US" sz="1397" noProof="0" dirty="0">
                <a:solidFill>
                  <a:schemeClr val="tx2"/>
                </a:solidFill>
              </a:rPr>
              <a:t> </a:t>
            </a:r>
            <a:r>
              <a:rPr lang="en-US" sz="1397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240</a:t>
            </a:r>
            <a:endParaRPr lang="en-US" sz="1397" noProof="0" dirty="0">
              <a:solidFill>
                <a:schemeClr val="tx2"/>
              </a:solidFill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4117E40B-531B-4655-AC4B-D35CD944535F}"/>
              </a:ext>
            </a:extLst>
          </p:cNvPr>
          <p:cNvSpPr txBox="1"/>
          <p:nvPr/>
        </p:nvSpPr>
        <p:spPr>
          <a:xfrm>
            <a:off x="2378825" y="2592002"/>
            <a:ext cx="1684046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 err="1">
                <a:solidFill>
                  <a:schemeClr val="tx2"/>
                </a:solidFill>
              </a:rPr>
              <a:t>Silbergrau</a:t>
            </a:r>
            <a:r>
              <a:rPr lang="en-US" sz="1397" noProof="0" dirty="0">
                <a:solidFill>
                  <a:schemeClr val="tx2"/>
                </a:solidFill>
              </a:rPr>
              <a:t> 20%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DF9B34FA-3621-42AE-883F-489F675B1D7E}"/>
              </a:ext>
            </a:extLst>
          </p:cNvPr>
          <p:cNvSpPr/>
          <p:nvPr/>
        </p:nvSpPr>
        <p:spPr>
          <a:xfrm>
            <a:off x="360000" y="2880001"/>
            <a:ext cx="682586" cy="216000"/>
          </a:xfrm>
          <a:prstGeom prst="rect">
            <a:avLst/>
          </a:prstGeom>
          <a:solidFill>
            <a:schemeClr val="tx2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5" noProof="0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13593682-C3D4-4FF3-8990-A5830483DDDF}"/>
              </a:ext>
            </a:extLst>
          </p:cNvPr>
          <p:cNvSpPr txBox="1"/>
          <p:nvPr/>
        </p:nvSpPr>
        <p:spPr>
          <a:xfrm>
            <a:off x="1154827" y="2880001"/>
            <a:ext cx="1258021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>
                <a:solidFill>
                  <a:schemeClr val="tx2"/>
                </a:solidFill>
              </a:rPr>
              <a:t>088 </a:t>
            </a:r>
            <a:r>
              <a:rPr lang="en-US" sz="1397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094</a:t>
            </a:r>
            <a:r>
              <a:rPr lang="en-US" sz="1397" noProof="0" dirty="0">
                <a:solidFill>
                  <a:schemeClr val="tx2"/>
                </a:solidFill>
              </a:rPr>
              <a:t> </a:t>
            </a:r>
            <a:r>
              <a:rPr lang="en-US" sz="1397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099</a:t>
            </a:r>
            <a:endParaRPr lang="en-US" sz="1397" noProof="0" dirty="0">
              <a:solidFill>
                <a:schemeClr val="tx2"/>
              </a:solidFill>
            </a:endParaRP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96B53EA6-2BB8-45F0-885A-CE4D046B3E44}"/>
              </a:ext>
            </a:extLst>
          </p:cNvPr>
          <p:cNvSpPr txBox="1"/>
          <p:nvPr/>
        </p:nvSpPr>
        <p:spPr>
          <a:xfrm>
            <a:off x="2378825" y="2880001"/>
            <a:ext cx="1684046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 err="1">
                <a:solidFill>
                  <a:schemeClr val="tx2"/>
                </a:solidFill>
              </a:rPr>
              <a:t>Anthrazitgrau</a:t>
            </a:r>
            <a:endParaRPr lang="en-US" sz="1397" noProof="0" dirty="0">
              <a:solidFill>
                <a:schemeClr val="tx2"/>
              </a:solidFill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D2DF7A3C-0BDB-4CC9-8AA3-A48ED6264449}"/>
              </a:ext>
            </a:extLst>
          </p:cNvPr>
          <p:cNvSpPr/>
          <p:nvPr/>
        </p:nvSpPr>
        <p:spPr>
          <a:xfrm>
            <a:off x="360000" y="3168001"/>
            <a:ext cx="682586" cy="216000"/>
          </a:xfrm>
          <a:prstGeom prst="rect">
            <a:avLst/>
          </a:prstGeom>
          <a:solidFill>
            <a:srgbClr val="ED1B24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5" noProof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F3152F2-9E48-46A3-9687-EC1C95C155B0}"/>
              </a:ext>
            </a:extLst>
          </p:cNvPr>
          <p:cNvSpPr txBox="1"/>
          <p:nvPr/>
        </p:nvSpPr>
        <p:spPr>
          <a:xfrm>
            <a:off x="1154827" y="3168001"/>
            <a:ext cx="1258021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>
                <a:solidFill>
                  <a:schemeClr val="tx2"/>
                </a:solidFill>
              </a:rPr>
              <a:t>237 </a:t>
            </a:r>
            <a:r>
              <a:rPr lang="en-US" sz="1397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027</a:t>
            </a:r>
            <a:r>
              <a:rPr lang="en-US" sz="1397" noProof="0">
                <a:solidFill>
                  <a:schemeClr val="tx2"/>
                </a:solidFill>
              </a:rPr>
              <a:t> </a:t>
            </a:r>
            <a:r>
              <a:rPr lang="en-US" sz="1397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036</a:t>
            </a:r>
            <a:endParaRPr lang="en-US" sz="1397" noProof="0">
              <a:solidFill>
                <a:schemeClr val="tx2"/>
              </a:solidFill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71029213-5BAC-477C-AC15-C6CD0EE3F04C}"/>
              </a:ext>
            </a:extLst>
          </p:cNvPr>
          <p:cNvSpPr txBox="1"/>
          <p:nvPr/>
        </p:nvSpPr>
        <p:spPr>
          <a:xfrm>
            <a:off x="2378825" y="3168001"/>
            <a:ext cx="1684046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>
                <a:solidFill>
                  <a:schemeClr val="tx2"/>
                </a:solidFill>
              </a:rPr>
              <a:t>Grenzebach Rot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13D0E98A-0D19-4DBA-A38D-083E0B8968C2}"/>
              </a:ext>
            </a:extLst>
          </p:cNvPr>
          <p:cNvSpPr/>
          <p:nvPr/>
        </p:nvSpPr>
        <p:spPr>
          <a:xfrm>
            <a:off x="360000" y="3456001"/>
            <a:ext cx="682586" cy="216000"/>
          </a:xfrm>
          <a:prstGeom prst="rect">
            <a:avLst/>
          </a:prstGeom>
          <a:solidFill>
            <a:srgbClr val="91A5B8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5" noProof="0" dirty="0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BF965BDC-A605-4BF0-83DD-0FF74CFE1FE4}"/>
              </a:ext>
            </a:extLst>
          </p:cNvPr>
          <p:cNvSpPr txBox="1"/>
          <p:nvPr/>
        </p:nvSpPr>
        <p:spPr>
          <a:xfrm>
            <a:off x="1154827" y="3456001"/>
            <a:ext cx="1258021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>
                <a:solidFill>
                  <a:schemeClr val="tx2"/>
                </a:solidFill>
              </a:rPr>
              <a:t>145 | 165 | 184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C5851B07-C4C0-47F0-8333-0E2B0EEEB8F7}"/>
              </a:ext>
            </a:extLst>
          </p:cNvPr>
          <p:cNvSpPr txBox="1"/>
          <p:nvPr/>
        </p:nvSpPr>
        <p:spPr>
          <a:xfrm>
            <a:off x="2378825" y="3456001"/>
            <a:ext cx="1684046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 err="1">
                <a:solidFill>
                  <a:schemeClr val="tx2"/>
                </a:solidFill>
              </a:rPr>
              <a:t>Blaugrau</a:t>
            </a:r>
            <a:endParaRPr lang="en-US" sz="1397" noProof="0" dirty="0">
              <a:solidFill>
                <a:schemeClr val="tx2"/>
              </a:solidFill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60BDB284-EE53-455E-A9E4-35106EA2DB44}"/>
              </a:ext>
            </a:extLst>
          </p:cNvPr>
          <p:cNvSpPr/>
          <p:nvPr/>
        </p:nvSpPr>
        <p:spPr>
          <a:xfrm>
            <a:off x="360000" y="3744002"/>
            <a:ext cx="682586" cy="216000"/>
          </a:xfrm>
          <a:prstGeom prst="rect">
            <a:avLst/>
          </a:prstGeom>
          <a:solidFill>
            <a:srgbClr val="37908C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5" noProof="0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EA411550-1E5B-49AA-AC51-419B5F3EDA36}"/>
              </a:ext>
            </a:extLst>
          </p:cNvPr>
          <p:cNvSpPr txBox="1"/>
          <p:nvPr/>
        </p:nvSpPr>
        <p:spPr>
          <a:xfrm>
            <a:off x="1154827" y="3744002"/>
            <a:ext cx="1258021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>
                <a:solidFill>
                  <a:schemeClr val="tx2"/>
                </a:solidFill>
              </a:rPr>
              <a:t>055 | 144 | 140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64E38E4D-0576-4107-945D-E4A6AFB7BF1A}"/>
              </a:ext>
            </a:extLst>
          </p:cNvPr>
          <p:cNvSpPr txBox="1"/>
          <p:nvPr/>
        </p:nvSpPr>
        <p:spPr>
          <a:xfrm>
            <a:off x="2378825" y="3744002"/>
            <a:ext cx="1684046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 err="1">
                <a:solidFill>
                  <a:schemeClr val="tx2"/>
                </a:solidFill>
              </a:rPr>
              <a:t>Akzent</a:t>
            </a:r>
            <a:r>
              <a:rPr lang="en-US" sz="1397" noProof="0" dirty="0">
                <a:solidFill>
                  <a:schemeClr val="tx2"/>
                </a:solidFill>
              </a:rPr>
              <a:t> </a:t>
            </a:r>
            <a:r>
              <a:rPr lang="en-US" sz="1397" noProof="0" dirty="0" err="1">
                <a:solidFill>
                  <a:schemeClr val="tx2"/>
                </a:solidFill>
              </a:rPr>
              <a:t>Grün</a:t>
            </a:r>
            <a:endParaRPr lang="en-US" sz="1397" noProof="0" dirty="0">
              <a:solidFill>
                <a:schemeClr val="tx2"/>
              </a:solidFill>
            </a:endParaRP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32A9EE9C-EDE9-4405-8D44-769EB624F5B1}"/>
              </a:ext>
            </a:extLst>
          </p:cNvPr>
          <p:cNvSpPr/>
          <p:nvPr/>
        </p:nvSpPr>
        <p:spPr>
          <a:xfrm>
            <a:off x="360000" y="4032001"/>
            <a:ext cx="682586" cy="216000"/>
          </a:xfrm>
          <a:prstGeom prst="rect">
            <a:avLst/>
          </a:prstGeom>
          <a:solidFill>
            <a:srgbClr val="1762B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5" noProof="0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80323337-D71E-467F-BE6E-110FF648C659}"/>
              </a:ext>
            </a:extLst>
          </p:cNvPr>
          <p:cNvSpPr txBox="1"/>
          <p:nvPr/>
        </p:nvSpPr>
        <p:spPr>
          <a:xfrm>
            <a:off x="1154827" y="4032001"/>
            <a:ext cx="1258021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>
                <a:solidFill>
                  <a:schemeClr val="tx2"/>
                </a:solidFill>
              </a:rPr>
              <a:t>023 | 098 | 191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AD4ADC3D-716C-4D0E-8327-3704499926D1}"/>
              </a:ext>
            </a:extLst>
          </p:cNvPr>
          <p:cNvSpPr txBox="1"/>
          <p:nvPr/>
        </p:nvSpPr>
        <p:spPr>
          <a:xfrm>
            <a:off x="2378825" y="4032001"/>
            <a:ext cx="1684046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pPr marL="0" marR="0" lvl="0" indent="0" algn="l" defTabSz="606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97" noProof="0" dirty="0" err="1">
                <a:solidFill>
                  <a:schemeClr val="tx2"/>
                </a:solidFill>
              </a:rPr>
              <a:t>Akzent</a:t>
            </a:r>
            <a:r>
              <a:rPr lang="en-US" sz="1397" noProof="0" dirty="0">
                <a:solidFill>
                  <a:schemeClr val="tx2"/>
                </a:solidFill>
              </a:rPr>
              <a:t> </a:t>
            </a:r>
            <a:r>
              <a:rPr lang="en-US" sz="1397" noProof="0" dirty="0" err="1">
                <a:solidFill>
                  <a:schemeClr val="tx2"/>
                </a:solidFill>
              </a:rPr>
              <a:t>Blau</a:t>
            </a:r>
            <a:endParaRPr lang="en-US" sz="1397" noProof="0" dirty="0">
              <a:solidFill>
                <a:schemeClr val="tx2"/>
              </a:solidFill>
            </a:endParaRP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48109BF0-D5FF-458E-A847-0F50BD8B7E0D}"/>
              </a:ext>
            </a:extLst>
          </p:cNvPr>
          <p:cNvSpPr/>
          <p:nvPr/>
        </p:nvSpPr>
        <p:spPr>
          <a:xfrm>
            <a:off x="360000" y="4320002"/>
            <a:ext cx="682586" cy="216000"/>
          </a:xfrm>
          <a:prstGeom prst="rect">
            <a:avLst/>
          </a:prstGeom>
          <a:solidFill>
            <a:srgbClr val="7864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5" noProof="0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40D1415D-CF41-43B7-AC1B-C5657C6719EA}"/>
              </a:ext>
            </a:extLst>
          </p:cNvPr>
          <p:cNvSpPr txBox="1"/>
          <p:nvPr/>
        </p:nvSpPr>
        <p:spPr>
          <a:xfrm>
            <a:off x="1154827" y="4320002"/>
            <a:ext cx="1258021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>
                <a:solidFill>
                  <a:schemeClr val="tx2"/>
                </a:solidFill>
              </a:rPr>
              <a:t>120 | 100 | 255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695F93A7-3653-42F3-87BF-BA7ED060B273}"/>
              </a:ext>
            </a:extLst>
          </p:cNvPr>
          <p:cNvSpPr txBox="1"/>
          <p:nvPr/>
        </p:nvSpPr>
        <p:spPr>
          <a:xfrm>
            <a:off x="2378825" y="4320002"/>
            <a:ext cx="1684046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pPr marL="0" marR="0" lvl="0" indent="0" algn="l" defTabSz="606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97" noProof="0" dirty="0" err="1">
                <a:solidFill>
                  <a:schemeClr val="tx2"/>
                </a:solidFill>
              </a:rPr>
              <a:t>Akzent</a:t>
            </a:r>
            <a:r>
              <a:rPr lang="en-US" sz="1397" noProof="0" dirty="0">
                <a:solidFill>
                  <a:schemeClr val="tx2"/>
                </a:solidFill>
              </a:rPr>
              <a:t> Lila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2C337233-19E3-40FF-A5C7-2DEAFF96A1A1}"/>
              </a:ext>
            </a:extLst>
          </p:cNvPr>
          <p:cNvSpPr/>
          <p:nvPr/>
        </p:nvSpPr>
        <p:spPr>
          <a:xfrm>
            <a:off x="360000" y="4608001"/>
            <a:ext cx="682586" cy="216000"/>
          </a:xfrm>
          <a:prstGeom prst="rect">
            <a:avLst/>
          </a:prstGeom>
          <a:solidFill>
            <a:srgbClr val="5DD1E1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5" noProof="0"/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EF1C4306-4004-4AAF-8CB1-9A1EB95481F1}"/>
              </a:ext>
            </a:extLst>
          </p:cNvPr>
          <p:cNvSpPr txBox="1"/>
          <p:nvPr/>
        </p:nvSpPr>
        <p:spPr>
          <a:xfrm>
            <a:off x="1154827" y="4608001"/>
            <a:ext cx="1258021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noProof="0" dirty="0">
                <a:solidFill>
                  <a:schemeClr val="tx2"/>
                </a:solidFill>
              </a:rPr>
              <a:t>093 | 209 | 225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EF1555F3-2AC0-464F-834B-39CD4B34BFE4}"/>
              </a:ext>
            </a:extLst>
          </p:cNvPr>
          <p:cNvSpPr txBox="1"/>
          <p:nvPr/>
        </p:nvSpPr>
        <p:spPr>
          <a:xfrm>
            <a:off x="2378825" y="4608001"/>
            <a:ext cx="1684046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pPr marL="0" marR="0" lvl="0" indent="0" algn="l" defTabSz="606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97" noProof="0" dirty="0" err="1">
                <a:solidFill>
                  <a:schemeClr val="tx2"/>
                </a:solidFill>
              </a:rPr>
              <a:t>Akzent</a:t>
            </a:r>
            <a:r>
              <a:rPr lang="en-US" sz="1397" noProof="0" dirty="0">
                <a:solidFill>
                  <a:schemeClr val="tx2"/>
                </a:solidFill>
              </a:rPr>
              <a:t> Aqua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0E2A1591-B2EF-4E19-B16D-7A0881B20903}"/>
              </a:ext>
            </a:extLst>
          </p:cNvPr>
          <p:cNvSpPr txBox="1"/>
          <p:nvPr/>
        </p:nvSpPr>
        <p:spPr>
          <a:xfrm>
            <a:off x="1154827" y="1720279"/>
            <a:ext cx="1258021" cy="216000"/>
          </a:xfrm>
          <a:prstGeom prst="rect">
            <a:avLst/>
          </a:prstGeom>
          <a:noFill/>
        </p:spPr>
        <p:txBody>
          <a:bodyPr wrap="square" lIns="35908" tIns="35908" rIns="35908" bIns="35908" rtlCol="0" anchor="ctr">
            <a:noAutofit/>
          </a:bodyPr>
          <a:lstStyle/>
          <a:p>
            <a:r>
              <a:rPr lang="en-US" sz="1397" b="0" noProof="0">
                <a:solidFill>
                  <a:schemeClr val="tx2"/>
                </a:solidFill>
              </a:rPr>
              <a:t>RGB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B36AA516-1AFF-4EAE-8AB9-A61A462DD47A}"/>
              </a:ext>
            </a:extLst>
          </p:cNvPr>
          <p:cNvSpPr txBox="1"/>
          <p:nvPr/>
        </p:nvSpPr>
        <p:spPr>
          <a:xfrm>
            <a:off x="4536001" y="1720277"/>
            <a:ext cx="3312000" cy="6778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397" noProof="0" dirty="0">
                <a:solidFill>
                  <a:schemeClr val="tx2"/>
                </a:solidFill>
              </a:rPr>
              <a:t>Alle </a:t>
            </a:r>
            <a:r>
              <a:rPr lang="en-US" sz="1397" noProof="0" dirty="0" err="1">
                <a:solidFill>
                  <a:schemeClr val="tx2"/>
                </a:solidFill>
              </a:rPr>
              <a:t>Präsentationen</a:t>
            </a:r>
            <a:r>
              <a:rPr lang="en-US" sz="1397" noProof="0" dirty="0">
                <a:solidFill>
                  <a:schemeClr val="tx2"/>
                </a:solidFill>
              </a:rPr>
              <a:t> </a:t>
            </a:r>
            <a:r>
              <a:rPr lang="en-US" sz="1397" noProof="0" dirty="0" err="1">
                <a:solidFill>
                  <a:schemeClr val="tx2"/>
                </a:solidFill>
              </a:rPr>
              <a:t>werden</a:t>
            </a:r>
            <a:r>
              <a:rPr lang="en-US" sz="1397" noProof="0" dirty="0">
                <a:solidFill>
                  <a:schemeClr val="tx2"/>
                </a:solidFill>
              </a:rPr>
              <a:t> </a:t>
            </a:r>
            <a:r>
              <a:rPr lang="en-US" sz="1397" noProof="0" dirty="0" err="1">
                <a:solidFill>
                  <a:schemeClr val="tx2"/>
                </a:solidFill>
              </a:rPr>
              <a:t>mit</a:t>
            </a:r>
            <a:r>
              <a:rPr lang="en-US" sz="1397" noProof="0" dirty="0">
                <a:solidFill>
                  <a:schemeClr val="tx2"/>
                </a:solidFill>
              </a:rPr>
              <a:t> ARIAL (</a:t>
            </a:r>
            <a:r>
              <a:rPr lang="en-US" sz="1397" noProof="0" dirty="0" err="1">
                <a:solidFill>
                  <a:schemeClr val="tx2"/>
                </a:solidFill>
              </a:rPr>
              <a:t>Farbe</a:t>
            </a:r>
            <a:r>
              <a:rPr lang="en-US" sz="1397" noProof="0" dirty="0">
                <a:solidFill>
                  <a:schemeClr val="tx2"/>
                </a:solidFill>
              </a:rPr>
              <a:t> </a:t>
            </a:r>
            <a:r>
              <a:rPr lang="en-US" sz="1397" noProof="0" dirty="0" err="1">
                <a:solidFill>
                  <a:schemeClr val="tx2"/>
                </a:solidFill>
              </a:rPr>
              <a:t>Dunkelgrau</a:t>
            </a:r>
            <a:r>
              <a:rPr lang="en-US" sz="1397" noProof="0" dirty="0">
                <a:solidFill>
                  <a:schemeClr val="tx2"/>
                </a:solidFill>
              </a:rPr>
              <a:t>) </a:t>
            </a:r>
            <a:r>
              <a:rPr lang="en-US" sz="1397" noProof="0" dirty="0" err="1">
                <a:solidFill>
                  <a:schemeClr val="tx2"/>
                </a:solidFill>
              </a:rPr>
              <a:t>als</a:t>
            </a:r>
            <a:r>
              <a:rPr lang="en-US" sz="1397" noProof="0" dirty="0">
                <a:solidFill>
                  <a:schemeClr val="tx2"/>
                </a:solidFill>
              </a:rPr>
              <a:t> </a:t>
            </a:r>
            <a:r>
              <a:rPr lang="en-US" sz="1397" noProof="0" dirty="0" err="1">
                <a:solidFill>
                  <a:schemeClr val="tx2"/>
                </a:solidFill>
              </a:rPr>
              <a:t>Standardschriftart</a:t>
            </a:r>
            <a:r>
              <a:rPr lang="en-US" sz="1397" noProof="0" dirty="0">
                <a:solidFill>
                  <a:schemeClr val="tx2"/>
                </a:solidFill>
              </a:rPr>
              <a:t> für </a:t>
            </a:r>
            <a:r>
              <a:rPr lang="en-US" sz="1397" noProof="0" dirty="0" err="1">
                <a:solidFill>
                  <a:schemeClr val="tx2"/>
                </a:solidFill>
              </a:rPr>
              <a:t>Überschriften</a:t>
            </a:r>
            <a:r>
              <a:rPr lang="en-US" sz="1397" noProof="0" dirty="0">
                <a:solidFill>
                  <a:schemeClr val="tx2"/>
                </a:solidFill>
              </a:rPr>
              <a:t> und </a:t>
            </a:r>
            <a:r>
              <a:rPr lang="en-US" sz="1397" noProof="0" dirty="0" err="1">
                <a:solidFill>
                  <a:schemeClr val="tx2"/>
                </a:solidFill>
              </a:rPr>
              <a:t>Textfelder</a:t>
            </a:r>
            <a:r>
              <a:rPr lang="en-US" sz="1397" noProof="0" dirty="0">
                <a:solidFill>
                  <a:schemeClr val="tx2"/>
                </a:solidFill>
              </a:rPr>
              <a:t> </a:t>
            </a:r>
            <a:r>
              <a:rPr lang="en-US" sz="1397" noProof="0" dirty="0" err="1">
                <a:solidFill>
                  <a:schemeClr val="tx2"/>
                </a:solidFill>
              </a:rPr>
              <a:t>erstellt</a:t>
            </a:r>
            <a:r>
              <a:rPr lang="en-US" sz="1397" noProof="0" dirty="0">
                <a:solidFill>
                  <a:schemeClr val="tx2"/>
                </a:solidFill>
              </a:rPr>
              <a:t>.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51D727E-3CB3-4BCB-8191-74456E8F57E6}"/>
              </a:ext>
            </a:extLst>
          </p:cNvPr>
          <p:cNvGrpSpPr/>
          <p:nvPr/>
        </p:nvGrpSpPr>
        <p:grpSpPr>
          <a:xfrm>
            <a:off x="4248000" y="2520000"/>
            <a:ext cx="3888000" cy="1727999"/>
            <a:chOff x="4248000" y="2664000"/>
            <a:chExt cx="3888000" cy="1727999"/>
          </a:xfrm>
        </p:grpSpPr>
        <p:sp>
          <p:nvSpPr>
            <p:cNvPr id="95" name="Textfeld 94">
              <a:extLst>
                <a:ext uri="{FF2B5EF4-FFF2-40B4-BE49-F238E27FC236}">
                  <a16:creationId xmlns:a16="http://schemas.microsoft.com/office/drawing/2014/main" id="{088FCE9A-71E4-4301-88A0-4680B9DE8412}"/>
                </a:ext>
              </a:extLst>
            </p:cNvPr>
            <p:cNvSpPr txBox="1"/>
            <p:nvPr userDrawn="1"/>
          </p:nvSpPr>
          <p:spPr>
            <a:xfrm>
              <a:off x="4248000" y="2664000"/>
              <a:ext cx="3888000" cy="360000"/>
            </a:xfrm>
            <a:prstGeom prst="rect">
              <a:avLst/>
            </a:prstGeom>
            <a:noFill/>
          </p:spPr>
          <p:txBody>
            <a:bodyPr wrap="square" lIns="288000" tIns="36000" rIns="36000" bIns="36000" rtlCol="0" anchor="ctr">
              <a:noAutofit/>
            </a:bodyPr>
            <a:lstStyle/>
            <a:p>
              <a:r>
                <a:rPr lang="en-US" sz="1596" b="1" noProof="0" dirty="0" err="1">
                  <a:solidFill>
                    <a:schemeClr val="tx2"/>
                  </a:solidFill>
                </a:rPr>
                <a:t>Schriftgrößen</a:t>
              </a:r>
              <a:endParaRPr lang="en-US" sz="1596" b="1" noProof="0" dirty="0">
                <a:solidFill>
                  <a:schemeClr val="tx2"/>
                </a:solidFill>
              </a:endParaRPr>
            </a:p>
          </p:txBody>
        </p: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363EDA56-B3A9-4AD6-88E7-5A832DC26FB9}"/>
                </a:ext>
              </a:extLst>
            </p:cNvPr>
            <p:cNvSpPr txBox="1"/>
            <p:nvPr userDrawn="1"/>
          </p:nvSpPr>
          <p:spPr>
            <a:xfrm>
              <a:off x="4536000" y="2951999"/>
              <a:ext cx="3312000" cy="1440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806015" indent="-806015">
                <a:lnSpc>
                  <a:spcPct val="130000"/>
                </a:lnSpc>
              </a:pPr>
              <a:r>
                <a:rPr lang="en-US" sz="2195" noProof="0" dirty="0">
                  <a:solidFill>
                    <a:schemeClr val="tx2"/>
                  </a:solidFill>
                </a:rPr>
                <a:t>22pt</a:t>
              </a:r>
              <a:r>
                <a:rPr lang="en-US" sz="1097" noProof="0" dirty="0">
                  <a:solidFill>
                    <a:schemeClr val="tx2"/>
                  </a:solidFill>
                </a:rPr>
                <a:t>	</a:t>
              </a:r>
              <a:r>
                <a:rPr lang="en-US" sz="1397" noProof="0" dirty="0">
                  <a:solidFill>
                    <a:schemeClr val="tx2"/>
                  </a:solidFill>
                </a:rPr>
                <a:t>für alle </a:t>
              </a:r>
              <a:r>
                <a:rPr lang="en-US" sz="1397" noProof="0" dirty="0" err="1">
                  <a:solidFill>
                    <a:schemeClr val="tx2"/>
                  </a:solidFill>
                </a:rPr>
                <a:t>Überschriften</a:t>
              </a:r>
              <a:endParaRPr lang="en-US" sz="1097" noProof="0" dirty="0">
                <a:solidFill>
                  <a:schemeClr val="tx2"/>
                </a:solidFill>
              </a:endParaRPr>
            </a:p>
            <a:p>
              <a:pPr marL="806015" indent="-806015">
                <a:lnSpc>
                  <a:spcPct val="130000"/>
                </a:lnSpc>
              </a:pPr>
              <a:r>
                <a:rPr lang="en-US" sz="1596" noProof="0" dirty="0">
                  <a:solidFill>
                    <a:schemeClr val="tx2"/>
                  </a:solidFill>
                </a:rPr>
                <a:t>16pt</a:t>
              </a:r>
              <a:r>
                <a:rPr lang="en-US" sz="1097" noProof="0" dirty="0">
                  <a:solidFill>
                    <a:schemeClr val="tx2"/>
                  </a:solidFill>
                </a:rPr>
                <a:t>	</a:t>
              </a:r>
              <a:r>
                <a:rPr lang="en-US" sz="1397" noProof="0" dirty="0">
                  <a:solidFill>
                    <a:schemeClr val="tx2"/>
                  </a:solidFill>
                </a:rPr>
                <a:t>für </a:t>
              </a:r>
              <a:r>
                <a:rPr lang="en-US" sz="1397" noProof="0" dirty="0" err="1">
                  <a:solidFill>
                    <a:schemeClr val="tx2"/>
                  </a:solidFill>
                </a:rPr>
                <a:t>Unterüberschriften</a:t>
              </a:r>
              <a:r>
                <a:rPr lang="en-US" sz="1397" noProof="0" dirty="0">
                  <a:solidFill>
                    <a:schemeClr val="tx2"/>
                  </a:solidFill>
                </a:rPr>
                <a:t> und Text</a:t>
              </a:r>
              <a:endParaRPr lang="en-US" sz="1097" noProof="0" dirty="0">
                <a:solidFill>
                  <a:schemeClr val="tx2"/>
                </a:solidFill>
              </a:endParaRPr>
            </a:p>
            <a:p>
              <a:pPr marL="806015" indent="-806015">
                <a:lnSpc>
                  <a:spcPct val="130000"/>
                </a:lnSpc>
              </a:pPr>
              <a:r>
                <a:rPr lang="en-US" sz="1097" noProof="0" dirty="0">
                  <a:solidFill>
                    <a:schemeClr val="tx2"/>
                  </a:solidFill>
                </a:rPr>
                <a:t>11pt	</a:t>
              </a:r>
              <a:r>
                <a:rPr lang="en-US" sz="1397" noProof="0" dirty="0">
                  <a:solidFill>
                    <a:schemeClr val="tx2"/>
                  </a:solidFill>
                </a:rPr>
                <a:t>für </a:t>
              </a:r>
              <a:r>
                <a:rPr lang="en-US" sz="1397" noProof="0" dirty="0" err="1">
                  <a:solidFill>
                    <a:schemeClr val="tx2"/>
                  </a:solidFill>
                </a:rPr>
                <a:t>Fußzeile</a:t>
              </a:r>
              <a:r>
                <a:rPr lang="en-US" sz="1397" noProof="0" dirty="0">
                  <a:solidFill>
                    <a:schemeClr val="tx2"/>
                  </a:solidFill>
                </a:rPr>
                <a:t>, </a:t>
              </a:r>
              <a:r>
                <a:rPr lang="en-US" sz="1397" noProof="0" dirty="0" err="1">
                  <a:solidFill>
                    <a:schemeClr val="tx2"/>
                  </a:solidFill>
                </a:rPr>
                <a:t>Untertitel</a:t>
              </a:r>
              <a:endParaRPr lang="en-US" sz="1397" noProof="0" dirty="0">
                <a:solidFill>
                  <a:schemeClr val="tx2"/>
                </a:solidFill>
              </a:endParaRPr>
            </a:p>
            <a:p>
              <a:pPr marL="806015" indent="-806015">
                <a:lnSpc>
                  <a:spcPct val="130000"/>
                </a:lnSpc>
              </a:pPr>
              <a:r>
                <a:rPr lang="en-US" sz="798" noProof="0" dirty="0">
                  <a:solidFill>
                    <a:schemeClr val="tx2"/>
                  </a:solidFill>
                </a:rPr>
                <a:t>8pt</a:t>
              </a:r>
              <a:r>
                <a:rPr lang="en-US" sz="1097" noProof="0" dirty="0">
                  <a:solidFill>
                    <a:schemeClr val="tx2"/>
                  </a:solidFill>
                </a:rPr>
                <a:t>	</a:t>
              </a:r>
              <a:r>
                <a:rPr lang="en-US" sz="1397" noProof="0" dirty="0">
                  <a:solidFill>
                    <a:schemeClr val="tx2"/>
                  </a:solidFill>
                </a:rPr>
                <a:t>für </a:t>
              </a:r>
              <a:r>
                <a:rPr lang="en-US" sz="1397" noProof="0" dirty="0" err="1">
                  <a:solidFill>
                    <a:schemeClr val="tx2"/>
                  </a:solidFill>
                </a:rPr>
                <a:t>Quellen</a:t>
              </a:r>
              <a:r>
                <a:rPr lang="en-US" sz="1397" noProof="0" dirty="0">
                  <a:solidFill>
                    <a:schemeClr val="tx2"/>
                  </a:solidFill>
                </a:rPr>
                <a:t> &amp; </a:t>
              </a:r>
              <a:r>
                <a:rPr lang="en-US" sz="1397" noProof="0" dirty="0" err="1">
                  <a:solidFill>
                    <a:schemeClr val="tx2"/>
                  </a:solidFill>
                </a:rPr>
                <a:t>Referenzen</a:t>
              </a:r>
              <a:endParaRPr lang="en-US" sz="1097" noProof="0" dirty="0">
                <a:solidFill>
                  <a:schemeClr val="tx2"/>
                </a:solidFill>
              </a:endParaRPr>
            </a:p>
          </p:txBody>
        </p:sp>
      </p:grpSp>
      <p:sp>
        <p:nvSpPr>
          <p:cNvPr id="97" name="Textfeld 96">
            <a:extLst>
              <a:ext uri="{FF2B5EF4-FFF2-40B4-BE49-F238E27FC236}">
                <a16:creationId xmlns:a16="http://schemas.microsoft.com/office/drawing/2014/main" id="{088FCE9A-71E4-4301-88A0-4680B9DE8412}"/>
              </a:ext>
            </a:extLst>
          </p:cNvPr>
          <p:cNvSpPr txBox="1"/>
          <p:nvPr/>
        </p:nvSpPr>
        <p:spPr>
          <a:xfrm>
            <a:off x="4248000" y="4369899"/>
            <a:ext cx="3888000" cy="360000"/>
          </a:xfrm>
          <a:prstGeom prst="rect">
            <a:avLst/>
          </a:prstGeom>
          <a:noFill/>
        </p:spPr>
        <p:txBody>
          <a:bodyPr wrap="square" lIns="287267" tIns="35908" rIns="35908" bIns="35908" rtlCol="0" anchor="ctr">
            <a:noAutofit/>
          </a:bodyPr>
          <a:lstStyle/>
          <a:p>
            <a:r>
              <a:rPr lang="en-US" sz="1596" b="1" noProof="0" dirty="0" err="1">
                <a:solidFill>
                  <a:schemeClr val="tx2"/>
                </a:solidFill>
              </a:rPr>
              <a:t>Stichpunkte</a:t>
            </a:r>
            <a:endParaRPr lang="en-US" sz="1596" b="1" noProof="0" dirty="0">
              <a:solidFill>
                <a:schemeClr val="tx2"/>
              </a:solidFill>
            </a:endParaRP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53DF30D3-0165-41D2-9067-0A92722A51F6}"/>
              </a:ext>
            </a:extLst>
          </p:cNvPr>
          <p:cNvSpPr txBox="1"/>
          <p:nvPr/>
        </p:nvSpPr>
        <p:spPr>
          <a:xfrm>
            <a:off x="8424000" y="1720278"/>
            <a:ext cx="3096000" cy="21440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e-DE" sz="1397" b="0" u="none" noProof="0" dirty="0">
                <a:solidFill>
                  <a:schemeClr val="tx2"/>
                </a:solidFill>
              </a:rPr>
              <a:t>Wenn Sie Bilder einfügen, achten Sie bitte auf Vertraulichkeits- und/oder Urheberrechtsbeschränkungen. Bitte geben Sie die Quellen am Ende jeder Folie an.</a:t>
            </a:r>
          </a:p>
          <a:p>
            <a:pPr algn="l"/>
            <a:endParaRPr lang="de-DE" sz="1397" b="0" u="none" noProof="0" dirty="0">
              <a:solidFill>
                <a:schemeClr val="tx2"/>
              </a:solidFill>
            </a:endParaRPr>
          </a:p>
          <a:p>
            <a:pPr algn="l"/>
            <a:r>
              <a:rPr lang="de-DE" sz="1397" b="0" u="none" noProof="0" dirty="0">
                <a:solidFill>
                  <a:schemeClr val="tx2"/>
                </a:solidFill>
              </a:rPr>
              <a:t>Wenn Sie Bilder aus unserer Datenbank verwenden möchten, wenden Sie sich bitte an die Marketing-Abteilung.</a:t>
            </a:r>
            <a:endParaRPr lang="en-US" sz="1397" b="0" u="none" noProof="0" dirty="0">
              <a:solidFill>
                <a:schemeClr val="tx2"/>
              </a:solidFill>
            </a:endParaRP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088FCE9A-71E4-4301-88A0-4680B9DE8412}"/>
              </a:ext>
            </a:extLst>
          </p:cNvPr>
          <p:cNvSpPr txBox="1"/>
          <p:nvPr/>
        </p:nvSpPr>
        <p:spPr>
          <a:xfrm>
            <a:off x="8136002" y="4369899"/>
            <a:ext cx="3673413" cy="360000"/>
          </a:xfrm>
          <a:prstGeom prst="rect">
            <a:avLst/>
          </a:prstGeom>
          <a:noFill/>
        </p:spPr>
        <p:txBody>
          <a:bodyPr wrap="square" lIns="287267" tIns="35908" rIns="35908" bIns="35908" rtlCol="0" anchor="ctr">
            <a:noAutofit/>
          </a:bodyPr>
          <a:lstStyle/>
          <a:p>
            <a:r>
              <a:rPr lang="en-US" sz="1596" b="1" noProof="0" dirty="0" err="1">
                <a:solidFill>
                  <a:schemeClr val="tx2"/>
                </a:solidFill>
              </a:rPr>
              <a:t>Präsentationstitel</a:t>
            </a:r>
            <a:r>
              <a:rPr lang="en-US" sz="1596" b="1" noProof="0" dirty="0">
                <a:solidFill>
                  <a:schemeClr val="tx2"/>
                </a:solidFill>
              </a:rPr>
              <a:t> in der </a:t>
            </a:r>
            <a:r>
              <a:rPr lang="en-US" sz="1596" b="1" noProof="0" dirty="0" err="1">
                <a:solidFill>
                  <a:schemeClr val="tx2"/>
                </a:solidFill>
              </a:rPr>
              <a:t>Fußzeile</a:t>
            </a:r>
            <a:endParaRPr lang="en-US" sz="1596" b="1" noProof="0" dirty="0">
              <a:solidFill>
                <a:schemeClr val="tx2"/>
              </a:solidFill>
            </a:endParaRP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E1FD1A62-43DA-4E2E-A4CE-39E04624FB00}"/>
              </a:ext>
            </a:extLst>
          </p:cNvPr>
          <p:cNvSpPr txBox="1"/>
          <p:nvPr/>
        </p:nvSpPr>
        <p:spPr>
          <a:xfrm>
            <a:off x="8431951" y="4729899"/>
            <a:ext cx="3096000" cy="13258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e-DE" sz="1397" b="0" u="none" noProof="0" dirty="0">
                <a:solidFill>
                  <a:schemeClr val="tx2"/>
                </a:solidFill>
              </a:rPr>
              <a:t>Bitte achten Sie darauf, dass Sie die Fußzeile (Name der Präsentation und Datum) bearbeiten.</a:t>
            </a:r>
          </a:p>
          <a:p>
            <a:pPr algn="l"/>
            <a:endParaRPr lang="de-DE" sz="1397" b="0" u="none" noProof="0" dirty="0">
              <a:solidFill>
                <a:schemeClr val="tx2"/>
              </a:solidFill>
            </a:endParaRPr>
          </a:p>
          <a:p>
            <a:pPr algn="l"/>
            <a:r>
              <a:rPr lang="de-DE" sz="1397" b="0" u="none" noProof="0" dirty="0">
                <a:solidFill>
                  <a:schemeClr val="tx2"/>
                </a:solidFill>
              </a:rPr>
              <a:t>Gehen Sie dazu auf die Registerkarte Einfügen " Text " Kopf- und Fußzeile.</a:t>
            </a:r>
            <a:endParaRPr lang="en-US" sz="1397" b="0" u="none" noProof="0" dirty="0">
              <a:solidFill>
                <a:schemeClr val="tx2"/>
              </a:solidFill>
            </a:endParaRP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363EDA56-B3A9-4AD6-88E7-5A832DC26FB9}"/>
              </a:ext>
            </a:extLst>
          </p:cNvPr>
          <p:cNvSpPr txBox="1"/>
          <p:nvPr/>
        </p:nvSpPr>
        <p:spPr>
          <a:xfrm>
            <a:off x="4536001" y="4729900"/>
            <a:ext cx="3312000" cy="1224000"/>
          </a:xfrm>
          <a:prstGeom prst="rect">
            <a:avLst/>
          </a:prstGeom>
          <a:noFill/>
        </p:spPr>
        <p:txBody>
          <a:bodyPr wrap="square" lIns="35908" tIns="35908" rIns="35908" bIns="35908" rtlCol="0">
            <a:noAutofit/>
          </a:bodyPr>
          <a:lstStyle/>
          <a:p>
            <a:pPr marL="179549" marR="0" lvl="0" indent="-179549" algn="l" defTabSz="6065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1B24"/>
              </a:buClr>
              <a:buSzTx/>
              <a:buFont typeface="Arial" panose="020B0604020202020204" pitchFamily="34" charset="0"/>
              <a:buChar char="»"/>
              <a:tabLst/>
              <a:defRPr/>
            </a:pPr>
            <a:r>
              <a:rPr kumimoji="0" lang="en-US" sz="1397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Stichpunkt</a:t>
            </a:r>
            <a:r>
              <a:rPr kumimoji="0" lang="en-US" sz="1397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Level 1 </a:t>
            </a:r>
          </a:p>
          <a:p>
            <a:pPr marL="536404" marR="0" lvl="1" indent="-285035" algn="l" defTabSz="6065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1B2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397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Stichpunkt</a:t>
            </a:r>
            <a:r>
              <a:rPr kumimoji="0" lang="en-US" sz="1397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Level 2</a:t>
            </a:r>
          </a:p>
          <a:p>
            <a:pPr marL="751863" marR="0" lvl="2" indent="-285035" algn="l" defTabSz="6065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1B2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397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Stichpunkt</a:t>
            </a:r>
            <a:r>
              <a:rPr kumimoji="0" lang="en-US" sz="1397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Level 3</a:t>
            </a:r>
          </a:p>
          <a:p>
            <a:pPr marL="1003232" marR="0" lvl="3" indent="-285035" algn="l" defTabSz="6065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1B2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397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Stichpunkt</a:t>
            </a:r>
            <a:r>
              <a:rPr kumimoji="0" lang="en-US" sz="1397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Level 4</a:t>
            </a:r>
          </a:p>
          <a:p>
            <a:pPr marL="1218692" marR="0" lvl="4" indent="-285035" algn="l" defTabSz="6065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1B2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397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Stichpunkt</a:t>
            </a:r>
            <a:r>
              <a:rPr kumimoji="0" lang="en-US" sz="1397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Level 5</a:t>
            </a:r>
          </a:p>
        </p:txBody>
      </p:sp>
      <p:sp>
        <p:nvSpPr>
          <p:cNvPr id="103" name="Fußzeilenplatzhalter 3">
            <a:extLst>
              <a:ext uri="{FF2B5EF4-FFF2-40B4-BE49-F238E27FC236}">
                <a16:creationId xmlns:a16="http://schemas.microsoft.com/office/drawing/2014/main" id="{60B29C70-236B-45CA-8D8C-AE48D81E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5713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47B4F50-4A92-44B4-B23F-F8EBB138EAA5}"/>
              </a:ext>
            </a:extLst>
          </p:cNvPr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40794669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0" imgW="668" imgH="668" progId="TCLayout.ActiveDocument.1">
                  <p:embed/>
                </p:oleObj>
              </mc:Choice>
              <mc:Fallback>
                <p:oleObj name="think-cell Folie" r:id="rId20" imgW="668" imgH="668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47B4F50-4A92-44B4-B23F-F8EBB138EA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eck 13">
            <a:extLst>
              <a:ext uri="{FF2B5EF4-FFF2-40B4-BE49-F238E27FC236}">
                <a16:creationId xmlns:a16="http://schemas.microsoft.com/office/drawing/2014/main" id="{0D3313F8-C6B3-4057-9FC5-489835561A71}"/>
              </a:ext>
            </a:extLst>
          </p:cNvPr>
          <p:cNvSpPr/>
          <p:nvPr/>
        </p:nvSpPr>
        <p:spPr>
          <a:xfrm>
            <a:off x="0" y="6516002"/>
            <a:ext cx="12168188" cy="324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5" noProof="0" dirty="0"/>
          </a:p>
        </p:txBody>
      </p:sp>
      <p:sp>
        <p:nvSpPr>
          <p:cNvPr id="18" name="Textfeld 12"/>
          <p:cNvSpPr txBox="1">
            <a:spLocks noChangeArrowheads="1"/>
          </p:cNvSpPr>
          <p:nvPr/>
        </p:nvSpPr>
        <p:spPr bwMode="auto">
          <a:xfrm>
            <a:off x="9936000" y="6516002"/>
            <a:ext cx="2232000" cy="3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5908" tIns="0" rIns="35908" bIns="0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de-DE" sz="1097" noProof="0" dirty="0">
                <a:solidFill>
                  <a:schemeClr val="bg1"/>
                </a:solidFill>
                <a:ea typeface="+mn-ea"/>
                <a:cs typeface="Arial" charset="0"/>
              </a:rPr>
              <a:t>www.grenzebach.com</a:t>
            </a:r>
          </a:p>
        </p:txBody>
      </p:sp>
      <p:pic>
        <p:nvPicPr>
          <p:cNvPr id="10" name="Bild 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 bwMode="auto">
          <a:xfrm>
            <a:off x="9828000" y="252001"/>
            <a:ext cx="1980000" cy="309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 title="Headline, Arial 21pt"/>
          <p:cNvSpPr>
            <a:spLocks noGrp="1"/>
          </p:cNvSpPr>
          <p:nvPr>
            <p:ph type="title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22" name="Foliennummernplatzhalter 21"/>
          <p:cNvSpPr>
            <a:spLocks noGrp="1"/>
          </p:cNvSpPr>
          <p:nvPr>
            <p:ph type="sldNum" sz="quarter" idx="4"/>
          </p:nvPr>
        </p:nvSpPr>
        <p:spPr>
          <a:xfrm>
            <a:off x="8676000" y="6516002"/>
            <a:ext cx="1188000" cy="324000"/>
          </a:xfrm>
          <a:prstGeom prst="rect">
            <a:avLst/>
          </a:prstGeom>
        </p:spPr>
        <p:txBody>
          <a:bodyPr vert="horz" lIns="36000" tIns="0" rIns="36000" bIns="0" rtlCol="0" anchor="ctr"/>
          <a:lstStyle>
            <a:lvl1pPr algn="ctr">
              <a:defRPr sz="1097">
                <a:solidFill>
                  <a:schemeClr val="bg1"/>
                </a:solidFill>
              </a:defRPr>
            </a:lvl1pPr>
          </a:lstStyle>
          <a:p>
            <a:fld id="{5F86D312-FDB0-4E03-B7B2-2FF3AD852D4D}" type="slidenum">
              <a:rPr lang="de-DE" smtClean="0"/>
              <a:t>‹Nr.›</a:t>
            </a:fld>
            <a:endParaRPr lang="de-DE"/>
          </a:p>
        </p:txBody>
      </p:sp>
      <p:sp>
        <p:nvSpPr>
          <p:cNvPr id="23" name="Datumsplatzhalter 22"/>
          <p:cNvSpPr>
            <a:spLocks noGrp="1"/>
          </p:cNvSpPr>
          <p:nvPr>
            <p:ph type="dt" sz="half" idx="2"/>
          </p:nvPr>
        </p:nvSpPr>
        <p:spPr>
          <a:xfrm>
            <a:off x="7416000" y="6516540"/>
            <a:ext cx="1188000" cy="324000"/>
          </a:xfrm>
          <a:prstGeom prst="rect">
            <a:avLst/>
          </a:prstGeom>
        </p:spPr>
        <p:txBody>
          <a:bodyPr vert="horz" lIns="36000" tIns="0" rIns="36000" bIns="0" rtlCol="0" anchor="ctr"/>
          <a:lstStyle>
            <a:lvl1pPr algn="ctr">
              <a:defRPr sz="1097">
                <a:solidFill>
                  <a:schemeClr val="bg1"/>
                </a:solidFill>
              </a:defRPr>
            </a:lvl1pPr>
          </a:lstStyle>
          <a:p>
            <a:fld id="{7A8B8B64-A140-428F-BA4D-FAECCBC836A4}" type="datetimeFigureOut">
              <a:rPr lang="de-DE" smtClean="0"/>
              <a:t>31.08.2026</a:t>
            </a:fld>
            <a:endParaRPr lang="de-DE"/>
          </a:p>
        </p:txBody>
      </p:sp>
      <p:cxnSp>
        <p:nvCxnSpPr>
          <p:cNvPr id="21" name="Gerade Verbindung 20"/>
          <p:cNvCxnSpPr/>
          <p:nvPr/>
        </p:nvCxnSpPr>
        <p:spPr>
          <a:xfrm>
            <a:off x="7380000" y="6516002"/>
            <a:ext cx="0" cy="324000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2"/>
          <p:cNvCxnSpPr/>
          <p:nvPr/>
        </p:nvCxnSpPr>
        <p:spPr>
          <a:xfrm>
            <a:off x="8640000" y="6516002"/>
            <a:ext cx="0" cy="324000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0"/>
          <p:cNvCxnSpPr/>
          <p:nvPr/>
        </p:nvCxnSpPr>
        <p:spPr>
          <a:xfrm>
            <a:off x="8640000" y="6516002"/>
            <a:ext cx="0" cy="324000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/>
          <p:cNvCxnSpPr/>
          <p:nvPr/>
        </p:nvCxnSpPr>
        <p:spPr>
          <a:xfrm>
            <a:off x="9900000" y="6516002"/>
            <a:ext cx="0" cy="324000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360000" y="1223963"/>
            <a:ext cx="11449413" cy="50400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 noProof="0" dirty="0" err="1"/>
              <a:t>Stichpunkt</a:t>
            </a:r>
            <a:r>
              <a:rPr lang="en-US" noProof="0" dirty="0"/>
              <a:t>, Level 1, Arial 16pt</a:t>
            </a:r>
          </a:p>
          <a:p>
            <a:pPr lvl="1"/>
            <a:r>
              <a:rPr lang="en-US" noProof="0" dirty="0" err="1"/>
              <a:t>Stichpunkt</a:t>
            </a:r>
            <a:r>
              <a:rPr lang="en-US" noProof="0" dirty="0"/>
              <a:t>, Level 2, Arial 16pt</a:t>
            </a:r>
          </a:p>
          <a:p>
            <a:pPr lvl="2"/>
            <a:r>
              <a:rPr lang="en-US" noProof="0" dirty="0" err="1"/>
              <a:t>Stichpunkt</a:t>
            </a:r>
            <a:r>
              <a:rPr lang="en-US" noProof="0" dirty="0"/>
              <a:t>, Level 3, Arial 16pt</a:t>
            </a:r>
          </a:p>
          <a:p>
            <a:pPr lvl="3"/>
            <a:r>
              <a:rPr lang="en-US" noProof="0" dirty="0" err="1"/>
              <a:t>Stichpunkt</a:t>
            </a:r>
            <a:r>
              <a:rPr lang="en-US" noProof="0" dirty="0"/>
              <a:t>, Level 4, Arial 16pt</a:t>
            </a:r>
          </a:p>
          <a:p>
            <a:pPr lvl="4"/>
            <a:r>
              <a:rPr lang="en-US" noProof="0" dirty="0" err="1"/>
              <a:t>Stichpunkt</a:t>
            </a:r>
            <a:r>
              <a:rPr lang="en-US" noProof="0" dirty="0"/>
              <a:t>, Level 5, Arial 16pt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661DE3-94E3-41A8-A426-20891454D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516002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097">
                <a:solidFill>
                  <a:schemeClr val="bg1"/>
                </a:solidFill>
              </a:defRPr>
            </a:lvl1pPr>
          </a:lstStyle>
          <a:p>
            <a:r>
              <a:rPr lang="de-DE"/>
              <a:t>ROSI · Verfügbarkeit und Fehlertoleranz</a:t>
            </a:r>
          </a:p>
        </p:txBody>
      </p:sp>
    </p:spTree>
    <p:extLst>
      <p:ext uri="{BB962C8B-B14F-4D97-AF65-F5344CB8AC3E}">
        <p14:creationId xmlns:p14="http://schemas.microsoft.com/office/powerpoint/2010/main" val="359370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06533" rtl="0" eaLnBrk="1" latinLnBrk="0" hangingPunct="1">
        <a:spcBef>
          <a:spcPct val="0"/>
        </a:spcBef>
        <a:buNone/>
        <a:defRPr lang="de-DE" sz="2195" b="1" kern="120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179549" indent="-179549" algn="l" defTabSz="606533" rtl="0" eaLnBrk="1" latinLnBrk="0" hangingPunct="1">
        <a:spcBef>
          <a:spcPts val="299"/>
        </a:spcBef>
        <a:buClr>
          <a:schemeClr val="accent1"/>
        </a:buClr>
        <a:buFont typeface="Arial" panose="020B0604020202020204" pitchFamily="34" charset="0"/>
        <a:buChar char="»"/>
        <a:defRPr sz="1596" kern="1200">
          <a:solidFill>
            <a:schemeClr val="tx2"/>
          </a:solidFill>
          <a:latin typeface="+mn-lt"/>
          <a:ea typeface="+mn-ea"/>
          <a:cs typeface="+mn-cs"/>
        </a:defRPr>
      </a:lvl1pPr>
      <a:lvl2pPr marL="430918" indent="-179549" algn="l" defTabSz="606533" rtl="0" eaLnBrk="1" latinLnBrk="0" hangingPunct="1"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1596" kern="1200">
          <a:solidFill>
            <a:schemeClr val="tx2"/>
          </a:solidFill>
          <a:latin typeface="+mn-lt"/>
          <a:ea typeface="+mn-ea"/>
          <a:cs typeface="+mn-cs"/>
        </a:defRPr>
      </a:lvl2pPr>
      <a:lvl3pPr marL="646377" indent="-179549" algn="l" defTabSz="606533" rtl="0" eaLnBrk="1" latinLnBrk="0" hangingPunct="1"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1596" kern="1200">
          <a:solidFill>
            <a:schemeClr val="tx2"/>
          </a:solidFill>
          <a:latin typeface="+mn-lt"/>
          <a:ea typeface="+mn-ea"/>
          <a:cs typeface="+mn-cs"/>
        </a:defRPr>
      </a:lvl3pPr>
      <a:lvl4pPr marL="897746" indent="-179549" algn="l" defTabSz="606533" rtl="0" eaLnBrk="1" latinLnBrk="0" hangingPunct="1"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1596" kern="1200">
          <a:solidFill>
            <a:schemeClr val="tx2"/>
          </a:solidFill>
          <a:latin typeface="+mn-lt"/>
          <a:ea typeface="+mn-ea"/>
          <a:cs typeface="+mn-cs"/>
        </a:defRPr>
      </a:lvl4pPr>
      <a:lvl5pPr marL="1185025" indent="-251369" algn="l" defTabSz="606533" rtl="0" eaLnBrk="1" latinLnBrk="0" hangingPunct="1"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1596" kern="1200">
          <a:solidFill>
            <a:schemeClr val="tx2"/>
          </a:solidFill>
          <a:latin typeface="+mn-lt"/>
          <a:ea typeface="+mn-ea"/>
          <a:cs typeface="+mn-cs"/>
        </a:defRPr>
      </a:lvl5pPr>
      <a:lvl6pPr marL="3335932" indent="-303267" algn="l" defTabSz="606533" rtl="0" eaLnBrk="1" latinLnBrk="0" hangingPunct="1">
        <a:spcBef>
          <a:spcPct val="20000"/>
        </a:spcBef>
        <a:buFont typeface="Arial"/>
        <a:buChar char="•"/>
        <a:defRPr sz="2632" kern="1200">
          <a:solidFill>
            <a:schemeClr val="tx1"/>
          </a:solidFill>
          <a:latin typeface="+mn-lt"/>
          <a:ea typeface="+mn-ea"/>
          <a:cs typeface="+mn-cs"/>
        </a:defRPr>
      </a:lvl6pPr>
      <a:lvl7pPr marL="3942463" indent="-303267" algn="l" defTabSz="606533" rtl="0" eaLnBrk="1" latinLnBrk="0" hangingPunct="1">
        <a:spcBef>
          <a:spcPct val="20000"/>
        </a:spcBef>
        <a:buFont typeface="Arial"/>
        <a:buChar char="•"/>
        <a:defRPr sz="2632" kern="1200">
          <a:solidFill>
            <a:schemeClr val="tx1"/>
          </a:solidFill>
          <a:latin typeface="+mn-lt"/>
          <a:ea typeface="+mn-ea"/>
          <a:cs typeface="+mn-cs"/>
        </a:defRPr>
      </a:lvl7pPr>
      <a:lvl8pPr marL="4548997" indent="-303267" algn="l" defTabSz="606533" rtl="0" eaLnBrk="1" latinLnBrk="0" hangingPunct="1">
        <a:spcBef>
          <a:spcPct val="20000"/>
        </a:spcBef>
        <a:buFont typeface="Arial"/>
        <a:buChar char="•"/>
        <a:defRPr sz="2632" kern="1200">
          <a:solidFill>
            <a:schemeClr val="tx1"/>
          </a:solidFill>
          <a:latin typeface="+mn-lt"/>
          <a:ea typeface="+mn-ea"/>
          <a:cs typeface="+mn-cs"/>
        </a:defRPr>
      </a:lvl8pPr>
      <a:lvl9pPr marL="5155530" indent="-303267" algn="l" defTabSz="606533" rtl="0" eaLnBrk="1" latinLnBrk="0" hangingPunct="1">
        <a:spcBef>
          <a:spcPct val="20000"/>
        </a:spcBef>
        <a:buFont typeface="Arial"/>
        <a:buChar char="•"/>
        <a:defRPr sz="26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6533" rtl="0" eaLnBrk="1" latinLnBrk="0" hangingPunct="1">
        <a:defRPr sz="2369" kern="1200">
          <a:solidFill>
            <a:schemeClr val="tx1"/>
          </a:solidFill>
          <a:latin typeface="+mn-lt"/>
          <a:ea typeface="+mn-ea"/>
          <a:cs typeface="+mn-cs"/>
        </a:defRPr>
      </a:lvl1pPr>
      <a:lvl2pPr marL="606533" algn="l" defTabSz="606533" rtl="0" eaLnBrk="1" latinLnBrk="0" hangingPunct="1">
        <a:defRPr sz="2369" kern="1200">
          <a:solidFill>
            <a:schemeClr val="tx1"/>
          </a:solidFill>
          <a:latin typeface="+mn-lt"/>
          <a:ea typeface="+mn-ea"/>
          <a:cs typeface="+mn-cs"/>
        </a:defRPr>
      </a:lvl2pPr>
      <a:lvl3pPr marL="1213066" algn="l" defTabSz="606533" rtl="0" eaLnBrk="1" latinLnBrk="0" hangingPunct="1">
        <a:defRPr sz="2369" kern="1200">
          <a:solidFill>
            <a:schemeClr val="tx1"/>
          </a:solidFill>
          <a:latin typeface="+mn-lt"/>
          <a:ea typeface="+mn-ea"/>
          <a:cs typeface="+mn-cs"/>
        </a:defRPr>
      </a:lvl3pPr>
      <a:lvl4pPr marL="1819599" algn="l" defTabSz="606533" rtl="0" eaLnBrk="1" latinLnBrk="0" hangingPunct="1">
        <a:defRPr sz="2369" kern="1200">
          <a:solidFill>
            <a:schemeClr val="tx1"/>
          </a:solidFill>
          <a:latin typeface="+mn-lt"/>
          <a:ea typeface="+mn-ea"/>
          <a:cs typeface="+mn-cs"/>
        </a:defRPr>
      </a:lvl4pPr>
      <a:lvl5pPr marL="2426131" algn="l" defTabSz="606533" rtl="0" eaLnBrk="1" latinLnBrk="0" hangingPunct="1">
        <a:defRPr sz="2369" kern="1200">
          <a:solidFill>
            <a:schemeClr val="tx1"/>
          </a:solidFill>
          <a:latin typeface="+mn-lt"/>
          <a:ea typeface="+mn-ea"/>
          <a:cs typeface="+mn-cs"/>
        </a:defRPr>
      </a:lvl5pPr>
      <a:lvl6pPr marL="3032665" algn="l" defTabSz="606533" rtl="0" eaLnBrk="1" latinLnBrk="0" hangingPunct="1">
        <a:defRPr sz="2369" kern="1200">
          <a:solidFill>
            <a:schemeClr val="tx1"/>
          </a:solidFill>
          <a:latin typeface="+mn-lt"/>
          <a:ea typeface="+mn-ea"/>
          <a:cs typeface="+mn-cs"/>
        </a:defRPr>
      </a:lvl6pPr>
      <a:lvl7pPr marL="3639199" algn="l" defTabSz="606533" rtl="0" eaLnBrk="1" latinLnBrk="0" hangingPunct="1">
        <a:defRPr sz="2369" kern="1200">
          <a:solidFill>
            <a:schemeClr val="tx1"/>
          </a:solidFill>
          <a:latin typeface="+mn-lt"/>
          <a:ea typeface="+mn-ea"/>
          <a:cs typeface="+mn-cs"/>
        </a:defRPr>
      </a:lvl7pPr>
      <a:lvl8pPr marL="4245730" algn="l" defTabSz="606533" rtl="0" eaLnBrk="1" latinLnBrk="0" hangingPunct="1">
        <a:defRPr sz="2369" kern="1200">
          <a:solidFill>
            <a:schemeClr val="tx1"/>
          </a:solidFill>
          <a:latin typeface="+mn-lt"/>
          <a:ea typeface="+mn-ea"/>
          <a:cs typeface="+mn-cs"/>
        </a:defRPr>
      </a:lvl8pPr>
      <a:lvl9pPr marL="4852264" algn="l" defTabSz="606533" rtl="0" eaLnBrk="1" latinLnBrk="0" hangingPunct="1">
        <a:defRPr sz="23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69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7424" userDrawn="1">
          <p15:clr>
            <a:srgbClr val="F26B43"/>
          </p15:clr>
        </p15:guide>
        <p15:guide id="4" orient="horz" pos="543" userDrawn="1">
          <p15:clr>
            <a:srgbClr val="F26B43"/>
          </p15:clr>
        </p15:guide>
        <p15:guide id="5" orient="horz" pos="3936" userDrawn="1">
          <p15:clr>
            <a:srgbClr val="F26B43"/>
          </p15:clr>
        </p15:guide>
        <p15:guide id="6" pos="38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1D0314B-ECA7-4014-D269-18BFE6BBA1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1800" b="1">
                <a:solidFill>
                  <a:srgbClr val="282D32"/>
                </a:solidFill>
                <a:latin typeface="Arial" panose="020B0604020202020204" pitchFamily="34" charset="0"/>
              </a:rPr>
              <a:t>Analyse der Verfügbarkeit, Ausfalltoleranz und Konsistenz des KI-basierten Multisensorik-ROSI-Systems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6AB36B-56BD-C7F9-4911-4412C04C58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1050">
                <a:solidFill>
                  <a:srgbClr val="585E63"/>
                </a:solidFill>
                <a:latin typeface="Arial" panose="020B0604020202020204" pitchFamily="34" charset="0"/>
              </a:rPr>
              <a:t>Empirische Fault-Injection-Analyse auf Prozess- und Betriebssystemebene · Luca Michael Schmidt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127243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AE7ABD5-F460-70CB-1BD1-120FF574465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499" y="1333500"/>
            <a:ext cx="7239000" cy="736600"/>
          </a:xfrm>
        </p:spPr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r>
              <a:rPr lang="de-DE" sz="2400" b="1">
                <a:solidFill>
                  <a:srgbClr val="282D32"/>
                </a:solidFill>
                <a:latin typeface="Arial" panose="020B0604020202020204" pitchFamily="34" charset="0"/>
              </a:rPr>
              <a:t>24/7-Inspektion braucht
sichtbare Fehlergrenzen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E3DEF5A-D23E-6015-9CDE-D6BA8E343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2200">
                <a:solidFill>
                  <a:srgbClr val="282D32"/>
                </a:solidFill>
                <a:latin typeface="Arial" panose="020B0604020202020204" pitchFamily="34" charset="0"/>
              </a:rPr>
              <a:t>Ausgangslage und Forschungsfrage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ED6CDC-0E52-D558-8E06-F642BD6296D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800" b="1">
                <a:solidFill>
                  <a:srgbClr val="6E7D88"/>
                </a:solidFill>
                <a:latin typeface="Arial" panose="020B0604020202020204" pitchFamily="34" charset="0"/>
              </a:rPr>
              <a:t>01 · KONTEXT · Quelle: Eigene Ausarbeitung, Kap. 1; Avizienis et al. (2004)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B3B7548-A4EF-412E-0817-2BCAAC0248FA}"/>
              </a:ext>
            </a:extLst>
          </p:cNvPr>
          <p:cNvCxnSpPr/>
          <p:nvPr/>
        </p:nvCxnSpPr>
        <p:spPr>
          <a:xfrm>
            <a:off x="359410" y="1060450"/>
            <a:ext cx="1145159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A9CDBC05-2614-0771-8306-067DC81105E9}"/>
              </a:ext>
            </a:extLst>
          </p:cNvPr>
          <p:cNvCxnSpPr/>
          <p:nvPr/>
        </p:nvCxnSpPr>
        <p:spPr>
          <a:xfrm>
            <a:off x="444500" y="2298700"/>
            <a:ext cx="11277600" cy="0"/>
          </a:xfrm>
          <a:prstGeom prst="straightConnector1">
            <a:avLst/>
          </a:prstGeom>
          <a:ln w="12700">
            <a:solidFill>
              <a:srgbClr val="D7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xt_MATERIALFLUSS">
            <a:extLst>
              <a:ext uri="{FF2B5EF4-FFF2-40B4-BE49-F238E27FC236}">
                <a16:creationId xmlns:a16="http://schemas.microsoft.com/office/drawing/2014/main" id="{7657E68B-F0E4-C011-2A40-790F08B2EE20}"/>
              </a:ext>
            </a:extLst>
          </p:cNvPr>
          <p:cNvSpPr/>
          <p:nvPr/>
        </p:nvSpPr>
        <p:spPr>
          <a:xfrm>
            <a:off x="571500" y="2984500"/>
            <a:ext cx="3111500" cy="1168400"/>
          </a:xfrm>
          <a:prstGeom prst="rect">
            <a:avLst/>
          </a:prstGeom>
          <a:solidFill>
            <a:srgbClr val="F2F4F5"/>
          </a:solidFill>
          <a:ln w="12700">
            <a:solidFill>
              <a:srgbClr val="91A5B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7DD9658-F7F7-D9BB-C325-A6A2CB3ABEC5}"/>
              </a:ext>
            </a:extLst>
          </p:cNvPr>
          <p:cNvSpPr txBox="1"/>
          <p:nvPr/>
        </p:nvSpPr>
        <p:spPr>
          <a:xfrm>
            <a:off x="723900" y="3149600"/>
            <a:ext cx="2794000" cy="2286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950" b="1">
                <a:solidFill>
                  <a:srgbClr val="6E7D88"/>
                </a:solidFill>
                <a:latin typeface="Arial" panose="020B0604020202020204" pitchFamily="34" charset="0"/>
              </a:rPr>
              <a:t>MATERIALFLUSS</a:t>
            </a:r>
            <a:endParaRPr lang="de-DE" sz="95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2F657DF-95FC-5691-C859-6E0DBC519FC0}"/>
              </a:ext>
            </a:extLst>
          </p:cNvPr>
          <p:cNvSpPr txBox="1"/>
          <p:nvPr/>
        </p:nvSpPr>
        <p:spPr>
          <a:xfrm>
            <a:off x="723900" y="3479800"/>
            <a:ext cx="2794000" cy="3937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1600" b="1">
                <a:solidFill>
                  <a:srgbClr val="282D32"/>
                </a:solidFill>
                <a:latin typeface="Arial" panose="020B0604020202020204" pitchFamily="34" charset="0"/>
              </a:rPr>
              <a:t>kontinuierlich</a:t>
            </a:r>
            <a:endParaRPr lang="de-DE" sz="16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1" name="Context_ROSI">
            <a:extLst>
              <a:ext uri="{FF2B5EF4-FFF2-40B4-BE49-F238E27FC236}">
                <a16:creationId xmlns:a16="http://schemas.microsoft.com/office/drawing/2014/main" id="{4688DD9D-C58C-7621-6A87-9A4B197200B3}"/>
              </a:ext>
            </a:extLst>
          </p:cNvPr>
          <p:cNvSpPr/>
          <p:nvPr/>
        </p:nvSpPr>
        <p:spPr>
          <a:xfrm>
            <a:off x="4508500" y="2984500"/>
            <a:ext cx="3111500" cy="1168400"/>
          </a:xfrm>
          <a:prstGeom prst="rect">
            <a:avLst/>
          </a:prstGeom>
          <a:solidFill>
            <a:srgbClr val="EEF3F7"/>
          </a:solidFill>
          <a:ln w="12700">
            <a:solidFill>
              <a:srgbClr val="91A5B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AFAFA97-89C4-4D9A-B8F7-B1CA04B27F80}"/>
              </a:ext>
            </a:extLst>
          </p:cNvPr>
          <p:cNvSpPr txBox="1"/>
          <p:nvPr/>
        </p:nvSpPr>
        <p:spPr>
          <a:xfrm>
            <a:off x="4660900" y="3149600"/>
            <a:ext cx="2794000" cy="2286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950" b="1">
                <a:solidFill>
                  <a:srgbClr val="6E7D88"/>
                </a:solidFill>
                <a:latin typeface="Arial" panose="020B0604020202020204" pitchFamily="34" charset="0"/>
              </a:rPr>
              <a:t>ROSI</a:t>
            </a:r>
            <a:endParaRPr lang="de-DE" sz="95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C235BFC-4C19-4B06-DE96-556A513312BE}"/>
              </a:ext>
            </a:extLst>
          </p:cNvPr>
          <p:cNvSpPr txBox="1"/>
          <p:nvPr/>
        </p:nvSpPr>
        <p:spPr>
          <a:xfrm>
            <a:off x="4660900" y="3479800"/>
            <a:ext cx="2794000" cy="3937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1600" b="1">
                <a:solidFill>
                  <a:srgbClr val="282D32"/>
                </a:solidFill>
                <a:latin typeface="Arial" panose="020B0604020202020204" pitchFamily="34" charset="0"/>
              </a:rPr>
              <a:t>Bild + Messwert</a:t>
            </a:r>
            <a:endParaRPr lang="de-DE" sz="16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4" name="Context_BETRIEBSFOLGE">
            <a:extLst>
              <a:ext uri="{FF2B5EF4-FFF2-40B4-BE49-F238E27FC236}">
                <a16:creationId xmlns:a16="http://schemas.microsoft.com/office/drawing/2014/main" id="{8A7AAC21-3BFB-40F9-9743-948854060421}"/>
              </a:ext>
            </a:extLst>
          </p:cNvPr>
          <p:cNvSpPr/>
          <p:nvPr/>
        </p:nvSpPr>
        <p:spPr>
          <a:xfrm>
            <a:off x="8445500" y="2984500"/>
            <a:ext cx="3111500" cy="1168400"/>
          </a:xfrm>
          <a:prstGeom prst="rect">
            <a:avLst/>
          </a:prstGeom>
          <a:solidFill>
            <a:srgbClr val="F2F4F5"/>
          </a:solidFill>
          <a:ln w="12700">
            <a:solidFill>
              <a:srgbClr val="91A5B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0E8767E-195A-8E4A-182D-46AF0B2DC10B}"/>
              </a:ext>
            </a:extLst>
          </p:cNvPr>
          <p:cNvSpPr txBox="1"/>
          <p:nvPr/>
        </p:nvSpPr>
        <p:spPr>
          <a:xfrm>
            <a:off x="8597900" y="3149600"/>
            <a:ext cx="2794000" cy="2286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950" b="1">
                <a:solidFill>
                  <a:srgbClr val="6E7D88"/>
                </a:solidFill>
                <a:latin typeface="Arial" panose="020B0604020202020204" pitchFamily="34" charset="0"/>
              </a:rPr>
              <a:t>BETRIEBSFOLGE</a:t>
            </a:r>
            <a:endParaRPr lang="de-DE" sz="95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36ACAA3-0301-0A1C-C8AC-06155B0B62D7}"/>
              </a:ext>
            </a:extLst>
          </p:cNvPr>
          <p:cNvSpPr txBox="1"/>
          <p:nvPr/>
        </p:nvSpPr>
        <p:spPr>
          <a:xfrm>
            <a:off x="8597900" y="3479800"/>
            <a:ext cx="2794000" cy="3937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1600" b="1">
                <a:solidFill>
                  <a:srgbClr val="282D32"/>
                </a:solidFill>
                <a:latin typeface="Arial" panose="020B0604020202020204" pitchFamily="34" charset="0"/>
              </a:rPr>
              <a:t>Ergebnis oder Stillstand</a:t>
            </a:r>
            <a:endParaRPr lang="de-DE" sz="16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0D8B2BD-D045-C3A1-92D5-61E7D66F61E6}"/>
              </a:ext>
            </a:extLst>
          </p:cNvPr>
          <p:cNvCxnSpPr/>
          <p:nvPr/>
        </p:nvCxnSpPr>
        <p:spPr>
          <a:xfrm>
            <a:off x="3683000" y="3568700"/>
            <a:ext cx="762000" cy="0"/>
          </a:xfrm>
          <a:prstGeom prst="straightConnector1">
            <a:avLst/>
          </a:prstGeom>
          <a:ln w="17780">
            <a:solidFill>
              <a:srgbClr val="274A6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461FA05-381C-8D8C-992C-BECA6C82E992}"/>
              </a:ext>
            </a:extLst>
          </p:cNvPr>
          <p:cNvCxnSpPr/>
          <p:nvPr/>
        </p:nvCxnSpPr>
        <p:spPr>
          <a:xfrm>
            <a:off x="7620000" y="3568700"/>
            <a:ext cx="762000" cy="0"/>
          </a:xfrm>
          <a:prstGeom prst="straightConnector1">
            <a:avLst/>
          </a:prstGeom>
          <a:ln w="17780">
            <a:solidFill>
              <a:srgbClr val="274A6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E4BAA3A-6B25-8084-B6C5-8B6F7D25C1D5}"/>
              </a:ext>
            </a:extLst>
          </p:cNvPr>
          <p:cNvCxnSpPr/>
          <p:nvPr/>
        </p:nvCxnSpPr>
        <p:spPr>
          <a:xfrm>
            <a:off x="444500" y="4711700"/>
            <a:ext cx="1127760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5F72A150-40FB-873E-65FA-B8C3E0D0FF71}"/>
              </a:ext>
            </a:extLst>
          </p:cNvPr>
          <p:cNvSpPr txBox="1"/>
          <p:nvPr/>
        </p:nvSpPr>
        <p:spPr>
          <a:xfrm>
            <a:off x="444500" y="4902200"/>
            <a:ext cx="1397000" cy="254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950" b="1">
                <a:solidFill>
                  <a:srgbClr val="ED1B24"/>
                </a:solidFill>
                <a:latin typeface="Arial" panose="020B0604020202020204" pitchFamily="34" charset="0"/>
              </a:rPr>
              <a:t>FORSCHUNGSFRAGE</a:t>
            </a:r>
            <a:endParaRPr lang="de-DE" sz="950" b="1" dirty="0" err="1">
              <a:solidFill>
                <a:srgbClr val="ED1B24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searchQuestion">
            <a:extLst>
              <a:ext uri="{FF2B5EF4-FFF2-40B4-BE49-F238E27FC236}">
                <a16:creationId xmlns:a16="http://schemas.microsoft.com/office/drawing/2014/main" id="{B8433E06-E990-9DF9-45F6-E9125D2B92E1}"/>
              </a:ext>
            </a:extLst>
          </p:cNvPr>
          <p:cNvSpPr txBox="1"/>
          <p:nvPr/>
        </p:nvSpPr>
        <p:spPr>
          <a:xfrm>
            <a:off x="2159000" y="4851400"/>
            <a:ext cx="9334500" cy="5588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1800" b="1">
                <a:solidFill>
                  <a:srgbClr val="282D32"/>
                </a:solidFill>
                <a:latin typeface="Arial" panose="020B0604020202020204" pitchFamily="34" charset="0"/>
              </a:rPr>
              <a:t>Wie erkennt und begrenzt ROSI lokale Fehler, bevor sie den Inspektionspfad erreichen?</a:t>
            </a:r>
            <a:endParaRPr lang="de-DE" sz="18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22" name="Datumsplatzhalter 21">
            <a:extLst>
              <a:ext uri="{FF2B5EF4-FFF2-40B4-BE49-F238E27FC236}">
                <a16:creationId xmlns:a16="http://schemas.microsoft.com/office/drawing/2014/main" id="{746EC894-5924-8F2C-DA62-31E70B20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9311-ADFD-4BA2-930E-A38986E76AD8}" type="datetime1">
              <a:rPr lang="de-DE" smtClean="0"/>
              <a:t>31.08.2026</a:t>
            </a:fld>
            <a:endParaRPr lang="de-DE"/>
          </a:p>
        </p:txBody>
      </p:sp>
      <p:sp>
        <p:nvSpPr>
          <p:cNvPr id="23" name="Fußzeilenplatzhalter 22">
            <a:extLst>
              <a:ext uri="{FF2B5EF4-FFF2-40B4-BE49-F238E27FC236}">
                <a16:creationId xmlns:a16="http://schemas.microsoft.com/office/drawing/2014/main" id="{0D733673-AD7D-3091-E365-A1438F63E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ROSI · Verfügbarkeit und Fehlertoleranz</a:t>
            </a:r>
          </a:p>
        </p:txBody>
      </p:sp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488290A7-E5BA-1977-D50B-A1458A16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9732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829E0E-4091-5248-36B8-C4B90B1AB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2200">
                <a:solidFill>
                  <a:srgbClr val="282D32"/>
                </a:solidFill>
                <a:latin typeface="Arial" panose="020B0604020202020204" pitchFamily="34" charset="0"/>
              </a:rPr>
              <a:t>Systemarchitektur und Referenzbetrieb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809A9D-8E58-EBC6-A5D9-D524595EEC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2108200"/>
            <a:ext cx="5080000" cy="228600"/>
          </a:xfrm>
        </p:spPr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r>
              <a:rPr lang="de-DE" sz="950" b="1">
                <a:solidFill>
                  <a:srgbClr val="6E7D88"/>
                </a:solidFill>
                <a:latin typeface="Arial" panose="020B0604020202020204" pitchFamily="34" charset="0"/>
              </a:rPr>
              <a:t>PROZESSE UND GEMEINSAME RESSOURCEN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C6E741-9A6B-4BEA-19F1-D6782B095F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/>
            <a:r>
              <a:rPr lang="de-DE" sz="800">
                <a:solidFill>
                  <a:srgbClr val="585E63"/>
                </a:solidFill>
                <a:latin typeface="Arial" panose="020B0604020202020204" pitchFamily="34" charset="0"/>
              </a:rPr>
              <a:t>Quelle: Eigene Ausarbeitung, Kap. 2; Python shared_memory (Python 3 Docs)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7DA5E6-52AB-E20F-8823-AFFD60C8234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900" b="1">
                <a:solidFill>
                  <a:srgbClr val="6E7D88"/>
                </a:solidFill>
                <a:latin typeface="Arial" panose="020B0604020202020204" pitchFamily="34" charset="0"/>
              </a:rPr>
              <a:t>01 · ARCHITEKTUR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4FE45FA8-61E4-946D-EC17-B4809B8614F6}"/>
              </a:ext>
            </a:extLst>
          </p:cNvPr>
          <p:cNvCxnSpPr/>
          <p:nvPr/>
        </p:nvCxnSpPr>
        <p:spPr>
          <a:xfrm>
            <a:off x="359410" y="1060450"/>
            <a:ext cx="1145159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Value_45">
            <a:extLst>
              <a:ext uri="{FF2B5EF4-FFF2-40B4-BE49-F238E27FC236}">
                <a16:creationId xmlns:a16="http://schemas.microsoft.com/office/drawing/2014/main" id="{9FD2FB93-3DD2-CD9D-8F44-D77B8D2416BF}"/>
              </a:ext>
            </a:extLst>
          </p:cNvPr>
          <p:cNvSpPr txBox="1"/>
          <p:nvPr/>
        </p:nvSpPr>
        <p:spPr>
          <a:xfrm>
            <a:off x="571500" y="1333500"/>
            <a:ext cx="2921000" cy="381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2300" b="1">
                <a:solidFill>
                  <a:srgbClr val="282D32"/>
                </a:solidFill>
                <a:latin typeface="Arial" panose="020B0604020202020204" pitchFamily="34" charset="0"/>
              </a:rPr>
              <a:t>1,74 / s</a:t>
            </a:r>
            <a:endParaRPr lang="de-DE" sz="2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9" name="StatLabel_45">
            <a:extLst>
              <a:ext uri="{FF2B5EF4-FFF2-40B4-BE49-F238E27FC236}">
                <a16:creationId xmlns:a16="http://schemas.microsoft.com/office/drawing/2014/main" id="{03789FD2-29E4-BAA4-5321-809230ED881D}"/>
              </a:ext>
            </a:extLst>
          </p:cNvPr>
          <p:cNvSpPr txBox="1"/>
          <p:nvPr/>
        </p:nvSpPr>
        <p:spPr>
          <a:xfrm>
            <a:off x="571500" y="1739900"/>
            <a:ext cx="2921000" cy="2413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950" b="1">
                <a:solidFill>
                  <a:srgbClr val="6E7D88"/>
                </a:solidFill>
                <a:latin typeface="Arial" panose="020B0604020202020204" pitchFamily="34" charset="0"/>
              </a:rPr>
              <a:t>INSPEKTIONEN IM REFERENZBETRIEB</a:t>
            </a:r>
            <a:endParaRPr lang="de-DE" sz="95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10" name="StatValue_360">
            <a:extLst>
              <a:ext uri="{FF2B5EF4-FFF2-40B4-BE49-F238E27FC236}">
                <a16:creationId xmlns:a16="http://schemas.microsoft.com/office/drawing/2014/main" id="{21866F7F-0BE3-4CC3-9B77-566767B3FD0B}"/>
              </a:ext>
            </a:extLst>
          </p:cNvPr>
          <p:cNvSpPr txBox="1"/>
          <p:nvPr/>
        </p:nvSpPr>
        <p:spPr>
          <a:xfrm>
            <a:off x="4572000" y="1333500"/>
            <a:ext cx="2921000" cy="381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2300" b="1">
                <a:solidFill>
                  <a:srgbClr val="282D32"/>
                </a:solidFill>
                <a:latin typeface="Arial" panose="020B0604020202020204" pitchFamily="34" charset="0"/>
              </a:rPr>
              <a:t>383 ms</a:t>
            </a:r>
            <a:endParaRPr lang="de-DE" sz="2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1" name="StatLabel_360">
            <a:extLst>
              <a:ext uri="{FF2B5EF4-FFF2-40B4-BE49-F238E27FC236}">
                <a16:creationId xmlns:a16="http://schemas.microsoft.com/office/drawing/2014/main" id="{9AB90360-8B02-3E80-DF16-4DC05734EA33}"/>
              </a:ext>
            </a:extLst>
          </p:cNvPr>
          <p:cNvSpPr txBox="1"/>
          <p:nvPr/>
        </p:nvSpPr>
        <p:spPr>
          <a:xfrm>
            <a:off x="4572000" y="1739900"/>
            <a:ext cx="2921000" cy="2413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950" b="1">
                <a:solidFill>
                  <a:srgbClr val="6E7D88"/>
                </a:solidFill>
                <a:latin typeface="Arial" panose="020B0604020202020204" pitchFamily="34" charset="0"/>
              </a:rPr>
              <a:t>MITTLERE PIPELINE-DAUER</a:t>
            </a:r>
            <a:endParaRPr lang="de-DE" sz="95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12" name="StatValue_675">
            <a:extLst>
              <a:ext uri="{FF2B5EF4-FFF2-40B4-BE49-F238E27FC236}">
                <a16:creationId xmlns:a16="http://schemas.microsoft.com/office/drawing/2014/main" id="{DCDBB0EC-A126-69CD-11FB-D782FC913D8F}"/>
              </a:ext>
            </a:extLst>
          </p:cNvPr>
          <p:cNvSpPr txBox="1"/>
          <p:nvPr/>
        </p:nvSpPr>
        <p:spPr>
          <a:xfrm>
            <a:off x="8572500" y="1333500"/>
            <a:ext cx="2921000" cy="381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2300" b="1">
                <a:solidFill>
                  <a:srgbClr val="282D32"/>
                </a:solidFill>
                <a:latin typeface="Arial" panose="020B0604020202020204" pitchFamily="34" charset="0"/>
              </a:rPr>
              <a:t>12</a:t>
            </a:r>
            <a:endParaRPr lang="de-DE" sz="2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3" name="StatLabel_675">
            <a:extLst>
              <a:ext uri="{FF2B5EF4-FFF2-40B4-BE49-F238E27FC236}">
                <a16:creationId xmlns:a16="http://schemas.microsoft.com/office/drawing/2014/main" id="{E8CA7821-73EB-5ED6-2FD1-5AD76D6AB048}"/>
              </a:ext>
            </a:extLst>
          </p:cNvPr>
          <p:cNvSpPr txBox="1"/>
          <p:nvPr/>
        </p:nvSpPr>
        <p:spPr>
          <a:xfrm>
            <a:off x="8572500" y="1739900"/>
            <a:ext cx="2921000" cy="2413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950" b="1">
                <a:solidFill>
                  <a:srgbClr val="6E7D88"/>
                </a:solidFill>
                <a:latin typeface="Arial" panose="020B0604020202020204" pitchFamily="34" charset="0"/>
              </a:rPr>
              <a:t>WORKER IN SECHS SCHRITTEN</a:t>
            </a:r>
            <a:endParaRPr lang="de-DE" sz="95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AECEA2C-4630-50D5-0FC0-39A7756D93AB}"/>
              </a:ext>
            </a:extLst>
          </p:cNvPr>
          <p:cNvCxnSpPr/>
          <p:nvPr/>
        </p:nvCxnSpPr>
        <p:spPr>
          <a:xfrm>
            <a:off x="4127500" y="1333500"/>
            <a:ext cx="0" cy="609600"/>
          </a:xfrm>
          <a:prstGeom prst="straightConnector1">
            <a:avLst/>
          </a:prstGeom>
          <a:ln w="12700">
            <a:solidFill>
              <a:srgbClr val="D7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3313E8C-C9E1-654F-29DB-EDA4624A4A96}"/>
              </a:ext>
            </a:extLst>
          </p:cNvPr>
          <p:cNvCxnSpPr/>
          <p:nvPr/>
        </p:nvCxnSpPr>
        <p:spPr>
          <a:xfrm>
            <a:off x="8128000" y="1333500"/>
            <a:ext cx="0" cy="609600"/>
          </a:xfrm>
          <a:prstGeom prst="straightConnector1">
            <a:avLst/>
          </a:prstGeom>
          <a:ln w="12700">
            <a:solidFill>
              <a:srgbClr val="D7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ervice_0">
            <a:extLst>
              <a:ext uri="{FF2B5EF4-FFF2-40B4-BE49-F238E27FC236}">
                <a16:creationId xmlns:a16="http://schemas.microsoft.com/office/drawing/2014/main" id="{6AA3C2F3-D0BD-1FF9-E47A-24070286B8FC}"/>
              </a:ext>
            </a:extLst>
          </p:cNvPr>
          <p:cNvSpPr/>
          <p:nvPr/>
        </p:nvSpPr>
        <p:spPr>
          <a:xfrm>
            <a:off x="444500" y="2514600"/>
            <a:ext cx="2413000" cy="825500"/>
          </a:xfrm>
          <a:prstGeom prst="rect">
            <a:avLst/>
          </a:prstGeom>
          <a:solidFill>
            <a:srgbClr val="F2F4F5"/>
          </a:solidFill>
          <a:ln w="15240">
            <a:solidFill>
              <a:srgbClr val="91A5B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1A27A88-D8F1-1810-D076-F5804B885C14}"/>
              </a:ext>
            </a:extLst>
          </p:cNvPr>
          <p:cNvSpPr txBox="1"/>
          <p:nvPr/>
        </p:nvSpPr>
        <p:spPr>
          <a:xfrm>
            <a:off x="546100" y="2667000"/>
            <a:ext cx="2209800" cy="508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400" b="1">
                <a:solidFill>
                  <a:srgbClr val="282D32"/>
                </a:solidFill>
                <a:latin typeface="Arial" panose="020B0604020202020204" pitchFamily="34" charset="0"/>
              </a:rPr>
              <a:t>Frame-Grabber</a:t>
            </a:r>
            <a:endParaRPr lang="de-DE" sz="14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8" name="Service_1">
            <a:extLst>
              <a:ext uri="{FF2B5EF4-FFF2-40B4-BE49-F238E27FC236}">
                <a16:creationId xmlns:a16="http://schemas.microsoft.com/office/drawing/2014/main" id="{74A42D3B-2147-DA5A-BB64-521A29C14210}"/>
              </a:ext>
            </a:extLst>
          </p:cNvPr>
          <p:cNvSpPr/>
          <p:nvPr/>
        </p:nvSpPr>
        <p:spPr>
          <a:xfrm>
            <a:off x="3302000" y="2514600"/>
            <a:ext cx="2413000" cy="825500"/>
          </a:xfrm>
          <a:prstGeom prst="rect">
            <a:avLst/>
          </a:prstGeom>
          <a:solidFill>
            <a:srgbClr val="FBEAEC"/>
          </a:solidFill>
          <a:ln w="15240">
            <a:solidFill>
              <a:srgbClr val="ED1B2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B71F70D-B4A2-2AE2-E7F9-FCB4DA5D7DF0}"/>
              </a:ext>
            </a:extLst>
          </p:cNvPr>
          <p:cNvSpPr txBox="1"/>
          <p:nvPr/>
        </p:nvSpPr>
        <p:spPr>
          <a:xfrm>
            <a:off x="3403600" y="2667000"/>
            <a:ext cx="2209800" cy="508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400" b="1">
                <a:solidFill>
                  <a:srgbClr val="282D32"/>
                </a:solidFill>
                <a:latin typeface="Arial" panose="020B0604020202020204" pitchFamily="34" charset="0"/>
              </a:rPr>
              <a:t>Pipeline-Manager</a:t>
            </a:r>
            <a:endParaRPr lang="de-DE" sz="14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20" name="Service_2">
            <a:extLst>
              <a:ext uri="{FF2B5EF4-FFF2-40B4-BE49-F238E27FC236}">
                <a16:creationId xmlns:a16="http://schemas.microsoft.com/office/drawing/2014/main" id="{7ED389F8-198B-9D35-77F9-E957B5B06376}"/>
              </a:ext>
            </a:extLst>
          </p:cNvPr>
          <p:cNvSpPr/>
          <p:nvPr/>
        </p:nvSpPr>
        <p:spPr>
          <a:xfrm>
            <a:off x="6159500" y="2514600"/>
            <a:ext cx="2413000" cy="825500"/>
          </a:xfrm>
          <a:prstGeom prst="rect">
            <a:avLst/>
          </a:prstGeom>
          <a:solidFill>
            <a:srgbClr val="F2F4F5"/>
          </a:solidFill>
          <a:ln w="15240">
            <a:solidFill>
              <a:srgbClr val="91A5B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5795A27-C8B8-15F4-3B97-333FAF251150}"/>
              </a:ext>
            </a:extLst>
          </p:cNvPr>
          <p:cNvSpPr txBox="1"/>
          <p:nvPr/>
        </p:nvSpPr>
        <p:spPr>
          <a:xfrm>
            <a:off x="6261100" y="2667000"/>
            <a:ext cx="2209800" cy="508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400" b="1">
                <a:solidFill>
                  <a:srgbClr val="282D32"/>
                </a:solidFill>
                <a:latin typeface="Arial" panose="020B0604020202020204" pitchFamily="34" charset="0"/>
              </a:rPr>
              <a:t>Inspection DataHandler</a:t>
            </a:r>
            <a:endParaRPr lang="de-DE" sz="14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22" name="Service_3">
            <a:extLst>
              <a:ext uri="{FF2B5EF4-FFF2-40B4-BE49-F238E27FC236}">
                <a16:creationId xmlns:a16="http://schemas.microsoft.com/office/drawing/2014/main" id="{D596E50C-3B8E-F64B-B28A-2CBAA5D0AFCD}"/>
              </a:ext>
            </a:extLst>
          </p:cNvPr>
          <p:cNvSpPr/>
          <p:nvPr/>
        </p:nvSpPr>
        <p:spPr>
          <a:xfrm>
            <a:off x="9017000" y="2514600"/>
            <a:ext cx="2413000" cy="825500"/>
          </a:xfrm>
          <a:prstGeom prst="rect">
            <a:avLst/>
          </a:prstGeom>
          <a:solidFill>
            <a:srgbClr val="F2F4F5"/>
          </a:solidFill>
          <a:ln w="15240">
            <a:solidFill>
              <a:srgbClr val="91A5B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EC1CA90-2CA1-3F1A-66BE-B7D52482E4ED}"/>
              </a:ext>
            </a:extLst>
          </p:cNvPr>
          <p:cNvSpPr txBox="1"/>
          <p:nvPr/>
        </p:nvSpPr>
        <p:spPr>
          <a:xfrm>
            <a:off x="9118600" y="2667000"/>
            <a:ext cx="2209800" cy="508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400" b="1">
                <a:solidFill>
                  <a:srgbClr val="282D32"/>
                </a:solidFill>
                <a:latin typeface="Arial" panose="020B0604020202020204" pitchFamily="34" charset="0"/>
              </a:rPr>
              <a:t>Logger</a:t>
            </a:r>
            <a:endParaRPr lang="de-DE" sz="14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152EE2C-D3D3-AF32-8445-1CE90F54B6AD}"/>
              </a:ext>
            </a:extLst>
          </p:cNvPr>
          <p:cNvSpPr txBox="1"/>
          <p:nvPr/>
        </p:nvSpPr>
        <p:spPr>
          <a:xfrm>
            <a:off x="482600" y="3479800"/>
            <a:ext cx="2159000" cy="2286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900">
                <a:solidFill>
                  <a:srgbClr val="585E63"/>
                </a:solidFill>
                <a:latin typeface="Arial" panose="020B0604020202020204" pitchFamily="34" charset="0"/>
              </a:rPr>
              <a:t>keine Top-Level-Reaktion</a:t>
            </a:r>
            <a:endParaRPr lang="de-DE" sz="900" dirty="0" err="1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685BBCB-E228-81F2-DF32-C004F56E36C1}"/>
              </a:ext>
            </a:extLst>
          </p:cNvPr>
          <p:cNvSpPr txBox="1"/>
          <p:nvPr/>
        </p:nvSpPr>
        <p:spPr>
          <a:xfrm>
            <a:off x="3340100" y="3479800"/>
            <a:ext cx="2336800" cy="2286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900" b="1">
                <a:solidFill>
                  <a:srgbClr val="ED1B24"/>
                </a:solidFill>
                <a:latin typeface="Arial" panose="020B0604020202020204" pitchFamily="34" charset="0"/>
              </a:rPr>
              <a:t>1-s-Poll · Supervisor</a:t>
            </a:r>
            <a:endParaRPr lang="de-DE" sz="900" b="1" dirty="0" err="1">
              <a:solidFill>
                <a:srgbClr val="ED1B24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E8C5E96-4A35-EC80-22F8-78E4891C026F}"/>
              </a:ext>
            </a:extLst>
          </p:cNvPr>
          <p:cNvSpPr txBox="1"/>
          <p:nvPr/>
        </p:nvSpPr>
        <p:spPr>
          <a:xfrm>
            <a:off x="6197600" y="3479800"/>
            <a:ext cx="2336800" cy="2286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900">
                <a:solidFill>
                  <a:srgbClr val="585E63"/>
                </a:solidFill>
                <a:latin typeface="Arial" panose="020B0604020202020204" pitchFamily="34" charset="0"/>
              </a:rPr>
              <a:t>keine Top-Level-Reaktion</a:t>
            </a:r>
            <a:endParaRPr lang="de-DE" sz="900" dirty="0" err="1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BF3DC3A-9737-404F-7759-B9484A30954E}"/>
              </a:ext>
            </a:extLst>
          </p:cNvPr>
          <p:cNvSpPr txBox="1"/>
          <p:nvPr/>
        </p:nvSpPr>
        <p:spPr>
          <a:xfrm>
            <a:off x="9055100" y="3479800"/>
            <a:ext cx="2336800" cy="2286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900">
                <a:solidFill>
                  <a:srgbClr val="585E63"/>
                </a:solidFill>
                <a:latin typeface="Arial" panose="020B0604020202020204" pitchFamily="34" charset="0"/>
              </a:rPr>
              <a:t>zentrale Log-Queue</a:t>
            </a:r>
            <a:endParaRPr lang="de-DE" sz="900" dirty="0" err="1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19BCF138-BAA2-18CB-34E2-83F40A623B75}"/>
              </a:ext>
            </a:extLst>
          </p:cNvPr>
          <p:cNvCxnSpPr/>
          <p:nvPr/>
        </p:nvCxnSpPr>
        <p:spPr>
          <a:xfrm>
            <a:off x="2857500" y="2921000"/>
            <a:ext cx="381000" cy="0"/>
          </a:xfrm>
          <a:prstGeom prst="straightConnector1">
            <a:avLst/>
          </a:prstGeom>
          <a:ln w="12700">
            <a:solidFill>
              <a:srgbClr val="274A6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BDCD2C27-5363-7941-9A4A-BFBFFD61F038}"/>
              </a:ext>
            </a:extLst>
          </p:cNvPr>
          <p:cNvCxnSpPr/>
          <p:nvPr/>
        </p:nvCxnSpPr>
        <p:spPr>
          <a:xfrm>
            <a:off x="5715000" y="2921000"/>
            <a:ext cx="381000" cy="0"/>
          </a:xfrm>
          <a:prstGeom prst="straightConnector1">
            <a:avLst/>
          </a:prstGeom>
          <a:ln w="12700">
            <a:solidFill>
              <a:srgbClr val="274A6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14A4C9DC-C2EA-F77E-9C4A-97C4C6D84FAE}"/>
              </a:ext>
            </a:extLst>
          </p:cNvPr>
          <p:cNvCxnSpPr/>
          <p:nvPr/>
        </p:nvCxnSpPr>
        <p:spPr>
          <a:xfrm>
            <a:off x="8572500" y="2921000"/>
            <a:ext cx="381000" cy="0"/>
          </a:xfrm>
          <a:prstGeom prst="straightConnector1">
            <a:avLst/>
          </a:prstGeom>
          <a:ln w="12700">
            <a:solidFill>
              <a:srgbClr val="274A6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33040FDF-86A1-6E87-64E9-DFEECFD63505}"/>
              </a:ext>
            </a:extLst>
          </p:cNvPr>
          <p:cNvSpPr txBox="1"/>
          <p:nvPr/>
        </p:nvSpPr>
        <p:spPr>
          <a:xfrm>
            <a:off x="444500" y="4064000"/>
            <a:ext cx="2794000" cy="2286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1100" b="1">
                <a:solidFill>
                  <a:srgbClr val="6E7D88"/>
                </a:solidFill>
                <a:latin typeface="Arial" panose="020B0604020202020204" pitchFamily="34" charset="0"/>
              </a:rPr>
              <a:t>main.py steuert</a:t>
            </a:r>
            <a:endParaRPr lang="de-DE" sz="110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966058FB-D301-E23C-C9B5-4955B2FE4A45}"/>
              </a:ext>
            </a:extLst>
          </p:cNvPr>
          <p:cNvCxnSpPr/>
          <p:nvPr/>
        </p:nvCxnSpPr>
        <p:spPr>
          <a:xfrm>
            <a:off x="1841500" y="4292600"/>
            <a:ext cx="0" cy="152400"/>
          </a:xfrm>
          <a:prstGeom prst="straightConnector1">
            <a:avLst/>
          </a:prstGeom>
          <a:ln w="16510">
            <a:solidFill>
              <a:srgbClr val="ED1B24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WorkerPool">
            <a:extLst>
              <a:ext uri="{FF2B5EF4-FFF2-40B4-BE49-F238E27FC236}">
                <a16:creationId xmlns:a16="http://schemas.microsoft.com/office/drawing/2014/main" id="{F003D681-6E5E-9D89-41E2-41886125A2D1}"/>
              </a:ext>
            </a:extLst>
          </p:cNvPr>
          <p:cNvSpPr/>
          <p:nvPr/>
        </p:nvSpPr>
        <p:spPr>
          <a:xfrm>
            <a:off x="2286000" y="4356100"/>
            <a:ext cx="7620000" cy="609600"/>
          </a:xfrm>
          <a:prstGeom prst="rect">
            <a:avLst/>
          </a:prstGeom>
          <a:solidFill>
            <a:srgbClr val="EEF3F7"/>
          </a:solidFill>
          <a:ln w="12700">
            <a:solidFill>
              <a:srgbClr val="91A5B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D494D54-7D87-F660-5A32-862FA72A0CD1}"/>
              </a:ext>
            </a:extLst>
          </p:cNvPr>
          <p:cNvSpPr txBox="1"/>
          <p:nvPr/>
        </p:nvSpPr>
        <p:spPr>
          <a:xfrm>
            <a:off x="2476500" y="4521200"/>
            <a:ext cx="7239000" cy="2921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en-US" sz="1400" b="1">
                <a:solidFill>
                  <a:srgbClr val="282D32"/>
                </a:solidFill>
                <a:latin typeface="Arial" panose="020B0604020202020204" pitchFamily="34" charset="0"/>
              </a:rPr>
              <a:t>Worker-Pool · sechs Pipeline-Schritte · Shared Memory · Queues</a:t>
            </a:r>
            <a:endParaRPr lang="de-DE" sz="14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4F9FAD61-E48A-1F44-3BA5-E6E9F5512C4F}"/>
              </a:ext>
            </a:extLst>
          </p:cNvPr>
          <p:cNvCxnSpPr/>
          <p:nvPr/>
        </p:nvCxnSpPr>
        <p:spPr>
          <a:xfrm>
            <a:off x="6096000" y="4965700"/>
            <a:ext cx="0" cy="165100"/>
          </a:xfrm>
          <a:prstGeom prst="straightConnector1">
            <a:avLst/>
          </a:prstGeom>
          <a:ln w="15240">
            <a:solidFill>
              <a:srgbClr val="274A6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haredMemory">
            <a:extLst>
              <a:ext uri="{FF2B5EF4-FFF2-40B4-BE49-F238E27FC236}">
                <a16:creationId xmlns:a16="http://schemas.microsoft.com/office/drawing/2014/main" id="{EFC8F468-D6D6-9A4F-9E7D-43DAD1539EF4}"/>
              </a:ext>
            </a:extLst>
          </p:cNvPr>
          <p:cNvSpPr/>
          <p:nvPr/>
        </p:nvSpPr>
        <p:spPr>
          <a:xfrm>
            <a:off x="2286000" y="5143500"/>
            <a:ext cx="7620000" cy="609600"/>
          </a:xfrm>
          <a:prstGeom prst="rect">
            <a:avLst/>
          </a:prstGeom>
          <a:solidFill>
            <a:srgbClr val="F2F4F5"/>
          </a:solidFill>
          <a:ln w="12700">
            <a:solidFill>
              <a:srgbClr val="91A5B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2F484C7-93C0-9360-0B91-0BA8C542C61A}"/>
              </a:ext>
            </a:extLst>
          </p:cNvPr>
          <p:cNvSpPr txBox="1"/>
          <p:nvPr/>
        </p:nvSpPr>
        <p:spPr>
          <a:xfrm>
            <a:off x="2476500" y="5308600"/>
            <a:ext cx="7239000" cy="2921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300" b="1">
                <a:solidFill>
                  <a:srgbClr val="282D32"/>
                </a:solidFill>
                <a:latin typeface="Arial" panose="020B0604020202020204" pitchFamily="34" charset="0"/>
              </a:rPr>
              <a:t>Gemeinsame Datenbasis · Bildblöcke im Shared Memory · Referenzen in Queues</a:t>
            </a:r>
            <a:endParaRPr lang="de-DE" sz="1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38" name="Datumsplatzhalter 37">
            <a:extLst>
              <a:ext uri="{FF2B5EF4-FFF2-40B4-BE49-F238E27FC236}">
                <a16:creationId xmlns:a16="http://schemas.microsoft.com/office/drawing/2014/main" id="{459F48B4-0591-5082-712C-2050299B197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95552D6-9C80-4B5A-9B26-77ACA059B38E}" type="datetime1">
              <a:rPr lang="de-DE" smtClean="0"/>
              <a:t>31.08.2026</a:t>
            </a:fld>
            <a:endParaRPr lang="de-DE"/>
          </a:p>
        </p:txBody>
      </p:sp>
      <p:sp>
        <p:nvSpPr>
          <p:cNvPr id="39" name="Fußzeilenplatzhalter 38">
            <a:extLst>
              <a:ext uri="{FF2B5EF4-FFF2-40B4-BE49-F238E27FC236}">
                <a16:creationId xmlns:a16="http://schemas.microsoft.com/office/drawing/2014/main" id="{2E939717-0CE3-4EAE-E353-778A23550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ROSI · Verfügbarkeit und Fehlertoleranz</a:t>
            </a:r>
          </a:p>
        </p:txBody>
      </p:sp>
      <p:sp>
        <p:nvSpPr>
          <p:cNvPr id="40" name="Foliennummernplatzhalter 39">
            <a:extLst>
              <a:ext uri="{FF2B5EF4-FFF2-40B4-BE49-F238E27FC236}">
                <a16:creationId xmlns:a16="http://schemas.microsoft.com/office/drawing/2014/main" id="{74AB44AE-F8C0-B3D0-7926-5D7883E2D96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7080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EC4A2E7-3B10-E6EC-7244-385ACF9DF29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499" y="1346200"/>
            <a:ext cx="11303000" cy="279400"/>
          </a:xfrm>
        </p:spPr>
        <p:txBody>
          <a:bodyPr wrap="square" lIns="6350" tIns="6350" rIns="6350" bIns="6350" anchor="t">
            <a:noAutofit/>
          </a:bodyPr>
          <a:lstStyle/>
          <a:p>
            <a:pPr marL="0" indent="0" algn="ctr">
              <a:buNone/>
            </a:pPr>
            <a:r>
              <a:rPr lang="de-DE" sz="1300" b="1">
                <a:solidFill>
                  <a:srgbClr val="282D32"/>
                </a:solidFill>
                <a:latin typeface="Arial" panose="020B0604020202020204" pitchFamily="34" charset="0"/>
              </a:rPr>
              <a:t>Gezielter Fehlerzustand  →  reproduzierbare Beobachtung  →  Vergleich von Erkennung, Folgeverhalten und Degradation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34BF3B3-3681-786B-0709-A97A2197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2200">
                <a:solidFill>
                  <a:srgbClr val="282D32"/>
                </a:solidFill>
                <a:latin typeface="Arial" panose="020B0604020202020204" pitchFamily="34" charset="0"/>
              </a:rPr>
              <a:t>Untersuchungsdesign: fünf Fault-Injection-Cases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ADA58CE-1050-C3E3-E18F-5BD91F8F5E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800" b="1">
                <a:solidFill>
                  <a:srgbClr val="6E7D88"/>
                </a:solidFill>
                <a:latin typeface="Arial" panose="020B0604020202020204" pitchFamily="34" charset="0"/>
              </a:rPr>
              <a:t>02 · METHODIK · Quelle: Eigene Ausarbeitung, Kap. 4; Hsueh et al. (1997)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FCB6808E-06E2-F13F-1EF0-4534C5E21D24}"/>
              </a:ext>
            </a:extLst>
          </p:cNvPr>
          <p:cNvCxnSpPr/>
          <p:nvPr/>
        </p:nvCxnSpPr>
        <p:spPr>
          <a:xfrm>
            <a:off x="359410" y="1060450"/>
            <a:ext cx="1145159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F18F933-5BFD-43D0-1962-01D7469350CA}"/>
              </a:ext>
            </a:extLst>
          </p:cNvPr>
          <p:cNvCxnSpPr/>
          <p:nvPr/>
        </p:nvCxnSpPr>
        <p:spPr>
          <a:xfrm>
            <a:off x="444500" y="1739900"/>
            <a:ext cx="11277600" cy="0"/>
          </a:xfrm>
          <a:prstGeom prst="straightConnector1">
            <a:avLst/>
          </a:prstGeom>
          <a:ln w="1651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MethodMatrix">
            <a:extLst>
              <a:ext uri="{FF2B5EF4-FFF2-40B4-BE49-F238E27FC236}">
                <a16:creationId xmlns:a16="http://schemas.microsoft.com/office/drawing/2014/main" id="{BE6D7962-7058-950D-ACA7-EF9768E25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45479"/>
              </p:ext>
            </p:extLst>
          </p:nvPr>
        </p:nvGraphicFramePr>
        <p:xfrm>
          <a:off x="444499" y="1917700"/>
          <a:ext cx="11277600" cy="378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3427725781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446092066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4127103973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156702694"/>
                    </a:ext>
                  </a:extLst>
                </a:gridCol>
              </a:tblGrid>
              <a:tr h="630767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Case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Eingriff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Untersuchungsziel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Messgrößen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119618"/>
                  </a:ext>
                </a:extLst>
              </a:tr>
              <a:tr h="630767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C1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SIGKILL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Laufzeit-Supervision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TTD · Shutdown · Dienststatus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959269"/>
                  </a:ext>
                </a:extLst>
              </a:tr>
              <a:tr h="630767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C2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OSError(28)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Speichergrenze / Fallback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Wachstum · Fehlerzeit · Shutdown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145297"/>
                  </a:ext>
                </a:extLst>
              </a:tr>
              <a:tr h="630767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C3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SIGSTOP Logger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Queue-Backpressure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qsize · Stillstand · Messlücke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649655"/>
                  </a:ext>
                </a:extLst>
              </a:tr>
              <a:tr h="630767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C4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DB-Trennung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Persistenzrisiko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OperationalError · Konfiguration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352838"/>
                  </a:ext>
                </a:extLst>
              </a:tr>
              <a:tr h="630767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C5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Timing-Hypothese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Shared-Memory-Race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 dirty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Zugriff · Freigabe · Absturz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89179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D41DBFD6-D326-ABDC-651F-37F6A3479FB8}"/>
              </a:ext>
            </a:extLst>
          </p:cNvPr>
          <p:cNvSpPr txBox="1"/>
          <p:nvPr/>
        </p:nvSpPr>
        <p:spPr>
          <a:xfrm>
            <a:off x="444500" y="5842000"/>
            <a:ext cx="112776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100" b="1">
                <a:solidFill>
                  <a:srgbClr val="6E7D88"/>
                </a:solidFill>
                <a:latin typeface="Arial" panose="020B0604020202020204" pitchFamily="34" charset="0"/>
              </a:rPr>
              <a:t>Direkte Messung und analytische Ableitung werden in den Fällen getrennt ausgewiesen.</a:t>
            </a:r>
            <a:endParaRPr lang="de-DE" sz="110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5B073FBB-22E8-3CDB-6BA8-243F40FF4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9DEC6-E705-47C6-AD3B-7F3DD4976B29}" type="datetime1">
              <a:rPr lang="de-DE" smtClean="0"/>
              <a:t>31.08.2026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D6186B05-5B05-C880-5188-E7F599554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ROSI · Verfügbarkeit und Fehlertoleranz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3A5E881-6F8A-054C-88C7-E3D6CF61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8879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1D5D3FA-05E3-1240-FD10-8350F0FD8E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499" y="1346200"/>
            <a:ext cx="7747000" cy="254000"/>
          </a:xfrm>
        </p:spPr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r>
              <a:rPr lang="de-DE" sz="1250" b="1">
                <a:solidFill>
                  <a:srgbClr val="282D32"/>
                </a:solidFill>
                <a:latin typeface="Arial" panose="020B0604020202020204" pitchFamily="34" charset="0"/>
              </a:rPr>
              <a:t>SIGKILL auf jeden langlebigen Dienst · Reaktion im Messfenster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C73EB6C-ED84-8CFE-0591-7D38DD4F1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2200">
                <a:solidFill>
                  <a:srgbClr val="282D32"/>
                </a:solidFill>
                <a:latin typeface="Arial" panose="020B0604020202020204" pitchFamily="34" charset="0"/>
              </a:rPr>
              <a:t>C1 – Prozessausfälle und Laufzeit-Supervision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B130B9-6424-B80C-2496-A1F565788A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800" b="1">
                <a:solidFill>
                  <a:srgbClr val="6E7D88"/>
                </a:solidFill>
                <a:latin typeface="Arial" panose="020B0604020202020204" pitchFamily="34" charset="0"/>
              </a:rPr>
              <a:t>03 · BEFUNDE · C1 · Quelle: Eigene Messung: C1-Ergebnistabelle; Pont &amp; Ong (2002)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04EBB6D5-5C2F-9D80-A3DB-49A8A7512FEA}"/>
              </a:ext>
            </a:extLst>
          </p:cNvPr>
          <p:cNvCxnSpPr/>
          <p:nvPr/>
        </p:nvCxnSpPr>
        <p:spPr>
          <a:xfrm>
            <a:off x="359410" y="1060450"/>
            <a:ext cx="1145159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1ResultTable">
            <a:extLst>
              <a:ext uri="{FF2B5EF4-FFF2-40B4-BE49-F238E27FC236}">
                <a16:creationId xmlns:a16="http://schemas.microsoft.com/office/drawing/2014/main" id="{456E7975-D073-B4B3-B536-E7AB5625D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115932"/>
              </p:ext>
            </p:extLst>
          </p:nvPr>
        </p:nvGraphicFramePr>
        <p:xfrm>
          <a:off x="444500" y="1739900"/>
          <a:ext cx="7747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75660701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111827836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400500783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Dienst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Eingriff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Laufzeitreaktion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78416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PipelineManager</a:t>
                      </a:r>
                    </a:p>
                  </a:txBody>
                  <a:tcPr marL="50800" marR="50800" marT="25400" marB="25400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SIGKILL</a:t>
                      </a:r>
                    </a:p>
                  </a:txBody>
                  <a:tcPr marL="50800" marR="50800" marT="25400" marB="25400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0,992 s · geordneter Shutdown</a:t>
                      </a:r>
                    </a:p>
                  </a:txBody>
                  <a:tcPr marL="50800" marR="50800" marT="25400" marB="25400" anchor="ctr">
                    <a:solidFill>
                      <a:srgbClr val="FB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20351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FrameGrabber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SIGKILL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keine erkannte Reaktion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75369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InspectionDataHandler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SIGKILL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keine erkannte Reaktion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98102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Logger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SIGKILL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50" b="0" dirty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keine erkannte Reaktion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349888"/>
                  </a:ext>
                </a:extLst>
              </a:tr>
            </a:tbl>
          </a:graphicData>
        </a:graphic>
      </p:graphicFrame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03068A2-8120-2B9B-8E4F-B6DE2D5CF944}"/>
              </a:ext>
            </a:extLst>
          </p:cNvPr>
          <p:cNvCxnSpPr/>
          <p:nvPr/>
        </p:nvCxnSpPr>
        <p:spPr>
          <a:xfrm>
            <a:off x="8763000" y="1866900"/>
            <a:ext cx="0" cy="3213100"/>
          </a:xfrm>
          <a:prstGeom prst="straightConnector1">
            <a:avLst/>
          </a:prstGeom>
          <a:ln w="2540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A11154D3-371E-43DB-F10E-210EE824B65C}"/>
              </a:ext>
            </a:extLst>
          </p:cNvPr>
          <p:cNvSpPr txBox="1"/>
          <p:nvPr/>
        </p:nvSpPr>
        <p:spPr>
          <a:xfrm>
            <a:off x="9144000" y="2019300"/>
            <a:ext cx="2286000" cy="8255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4000" b="1">
                <a:solidFill>
                  <a:srgbClr val="ED1B24"/>
                </a:solidFill>
                <a:latin typeface="Arial" panose="020B0604020202020204" pitchFamily="34" charset="0"/>
              </a:rPr>
              <a:t>1 / 4</a:t>
            </a:r>
            <a:endParaRPr lang="de-DE" sz="4000" b="1" dirty="0" err="1">
              <a:solidFill>
                <a:srgbClr val="ED1B24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825DDC1-07B0-6C47-5235-017985E54318}"/>
              </a:ext>
            </a:extLst>
          </p:cNvPr>
          <p:cNvSpPr txBox="1"/>
          <p:nvPr/>
        </p:nvSpPr>
        <p:spPr>
          <a:xfrm>
            <a:off x="8953500" y="2921000"/>
            <a:ext cx="2667000" cy="762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400" b="1">
                <a:solidFill>
                  <a:srgbClr val="282D32"/>
                </a:solidFill>
                <a:latin typeface="Arial" panose="020B0604020202020204" pitchFamily="34" charset="0"/>
              </a:rPr>
              <a:t>Dienste mit vollständiger
Laufzeitreaktion</a:t>
            </a:r>
            <a:endParaRPr lang="de-DE" sz="14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C7725B8-A6A1-F287-D5A2-787BB3906AE5}"/>
              </a:ext>
            </a:extLst>
          </p:cNvPr>
          <p:cNvSpPr txBox="1"/>
          <p:nvPr/>
        </p:nvSpPr>
        <p:spPr>
          <a:xfrm>
            <a:off x="8953500" y="4076700"/>
            <a:ext cx="2667000" cy="7747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300">
                <a:solidFill>
                  <a:srgbClr val="585E63"/>
                </a:solidFill>
                <a:latin typeface="Arial" panose="020B0604020202020204" pitchFamily="34" charset="0"/>
              </a:rPr>
              <a:t>Befund
Drei Prozesse zeigen Fail-Silent-Verhalten.</a:t>
            </a:r>
            <a:endParaRPr lang="de-DE" sz="1300" dirty="0" err="1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93F56C0-B186-24CF-DA22-9C987CECAB45}"/>
              </a:ext>
            </a:extLst>
          </p:cNvPr>
          <p:cNvSpPr txBox="1"/>
          <p:nvPr/>
        </p:nvSpPr>
        <p:spPr>
          <a:xfrm>
            <a:off x="444500" y="5473700"/>
            <a:ext cx="11176000" cy="3175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300" b="1">
                <a:solidFill>
                  <a:srgbClr val="282D32"/>
                </a:solidFill>
                <a:latin typeface="Arial" panose="020B0604020202020204" pitchFamily="34" charset="0"/>
              </a:rPr>
              <a:t>Schutzschicht: Supervisor / systemd für alle vier langlebigen Services.</a:t>
            </a:r>
            <a:endParaRPr lang="de-DE" sz="1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1AF3E41C-8F4B-E0C5-72B7-B61037105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7411-A9E8-46B5-BF71-D1225B5B272A}" type="datetime1">
              <a:rPr lang="de-DE" smtClean="0"/>
              <a:t>31.08.2026</a:t>
            </a:fld>
            <a:endParaRPr lang="de-DE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104B8CA8-FDAE-3862-C833-FB9AD9918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ROSI · Verfügbarkeit und Fehlertoleranz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61B3295B-3129-20CB-993C-B097BCA8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8065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69D4F8-CED4-4425-B2E1-1EF0BB5C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2200">
                <a:solidFill>
                  <a:srgbClr val="282D32"/>
                </a:solidFill>
                <a:latin typeface="Arial" panose="020B0604020202020204" pitchFamily="34" charset="0"/>
              </a:rPr>
              <a:t>C2 – Ressourcenerschöpfung im Bildarchiv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089651-92EF-7FFA-1B9E-0BDEF0DBE7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1333500"/>
            <a:ext cx="6604000" cy="254000"/>
          </a:xfrm>
        </p:spPr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r>
              <a:rPr lang="de-DE" sz="1100" b="1">
                <a:solidFill>
                  <a:srgbClr val="6E7D88"/>
                </a:solidFill>
                <a:latin typeface="Arial" panose="020B0604020202020204" pitchFamily="34" charset="0"/>
              </a:rPr>
              <a:t>ORIGINALMESSUNG · Images/Out auf der RAM-Disk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22DC41-C668-8158-1AB3-3CA76610E3C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endParaRPr lang="de-DE" sz="1600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3356669-5F49-8131-683B-39D64D25AE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/>
            <a:r>
              <a:rPr lang="de-DE" sz="800">
                <a:solidFill>
                  <a:srgbClr val="585E63"/>
                </a:solidFill>
                <a:latin typeface="Arial" panose="020B0604020202020204" pitchFamily="34" charset="0"/>
              </a:rPr>
              <a:t>Quelle: Eigene Messdaten: case2_disk_usage_timeseries.csv; Linux Kernel tmpfs-Dokumentation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4240514-9CDA-CCA7-8419-11D84747A7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900" b="1">
                <a:solidFill>
                  <a:srgbClr val="6E7D88"/>
                </a:solidFill>
                <a:latin typeface="Arial" panose="020B0604020202020204" pitchFamily="34" charset="0"/>
              </a:rPr>
              <a:t>03 · BEFUNDE · C2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E8DEC39D-8225-4EFE-06E2-179ED7ED5441}"/>
              </a:ext>
            </a:extLst>
          </p:cNvPr>
          <p:cNvCxnSpPr/>
          <p:nvPr/>
        </p:nvCxnSpPr>
        <p:spPr>
          <a:xfrm>
            <a:off x="359410" y="1060450"/>
            <a:ext cx="1145159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Case2OriginalMeasurement" descr="Original asset: case2_image_out_usage.png; source: case2_image_out_usage.pdf">
            <a:extLst>
              <a:ext uri="{FF2B5EF4-FFF2-40B4-BE49-F238E27FC236}">
                <a16:creationId xmlns:a16="http://schemas.microsoft.com/office/drawing/2014/main" id="{098F1E96-0274-A79D-B764-B94C923D86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1739900"/>
            <a:ext cx="7048500" cy="3952499"/>
          </a:xfrm>
          <a:prstGeom prst="rect">
            <a:avLst/>
          </a:prstGeom>
        </p:spPr>
      </p:pic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576C052-075F-DF82-0CBA-17A8D8BCCCF2}"/>
              </a:ext>
            </a:extLst>
          </p:cNvPr>
          <p:cNvCxnSpPr/>
          <p:nvPr/>
        </p:nvCxnSpPr>
        <p:spPr>
          <a:xfrm>
            <a:off x="8001000" y="1816100"/>
            <a:ext cx="0" cy="3860800"/>
          </a:xfrm>
          <a:prstGeom prst="straightConnector1">
            <a:avLst/>
          </a:prstGeom>
          <a:ln w="2286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D5E67B51-8C01-CB7F-5FB8-F4716AEEDF01}"/>
              </a:ext>
            </a:extLst>
          </p:cNvPr>
          <p:cNvSpPr txBox="1"/>
          <p:nvPr/>
        </p:nvSpPr>
        <p:spPr>
          <a:xfrm>
            <a:off x="8445500" y="1917700"/>
            <a:ext cx="3111500" cy="5715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2900" b="1">
                <a:solidFill>
                  <a:srgbClr val="ED1B24"/>
                </a:solidFill>
                <a:latin typeface="Arial" panose="020B0604020202020204" pitchFamily="34" charset="0"/>
              </a:rPr>
              <a:t>+43,6 MB</a:t>
            </a:r>
            <a:endParaRPr lang="de-DE" sz="2900" b="1" dirty="0" err="1">
              <a:solidFill>
                <a:srgbClr val="ED1B24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5D76285-A05F-EDF3-D0B4-EB1DD6F96790}"/>
              </a:ext>
            </a:extLst>
          </p:cNvPr>
          <p:cNvSpPr txBox="1"/>
          <p:nvPr/>
        </p:nvSpPr>
        <p:spPr>
          <a:xfrm>
            <a:off x="8445500" y="2514600"/>
            <a:ext cx="3111500" cy="3175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200" b="1">
                <a:solidFill>
                  <a:srgbClr val="585E63"/>
                </a:solidFill>
                <a:latin typeface="Arial" panose="020B0604020202020204" pitchFamily="34" charset="0"/>
              </a:rPr>
              <a:t>in 46,7 s · direkt gemessen</a:t>
            </a:r>
            <a:endParaRPr lang="de-DE" sz="1200" b="1" dirty="0" err="1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A4204FE-7ABA-A2AB-323C-E73B9B9327EA}"/>
              </a:ext>
            </a:extLst>
          </p:cNvPr>
          <p:cNvSpPr txBox="1"/>
          <p:nvPr/>
        </p:nvSpPr>
        <p:spPr>
          <a:xfrm>
            <a:off x="8445500" y="3187700"/>
            <a:ext cx="3111500" cy="6096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500" b="1">
                <a:solidFill>
                  <a:srgbClr val="282D32"/>
                </a:solidFill>
                <a:latin typeface="Arial" panose="020B0604020202020204" pitchFamily="34" charset="0"/>
              </a:rPr>
              <a:t>947 CSV-Zeilen
≈21,8 MB je Inspektion*</a:t>
            </a:r>
            <a:endParaRPr lang="de-DE" sz="15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F608908-CAE8-2F39-3844-8FD1ADCA2E54}"/>
              </a:ext>
            </a:extLst>
          </p:cNvPr>
          <p:cNvCxnSpPr/>
          <p:nvPr/>
        </p:nvCxnSpPr>
        <p:spPr>
          <a:xfrm>
            <a:off x="8445500" y="4025900"/>
            <a:ext cx="3111500" cy="0"/>
          </a:xfrm>
          <a:prstGeom prst="straightConnector1">
            <a:avLst/>
          </a:prstGeom>
          <a:ln w="12700">
            <a:solidFill>
              <a:srgbClr val="D7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88234B5C-5F45-B7F5-26A2-0E92F1818A06}"/>
              </a:ext>
            </a:extLst>
          </p:cNvPr>
          <p:cNvSpPr txBox="1"/>
          <p:nvPr/>
        </p:nvSpPr>
        <p:spPr>
          <a:xfrm>
            <a:off x="8445500" y="4203700"/>
            <a:ext cx="3111500" cy="8509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300">
                <a:solidFill>
                  <a:srgbClr val="282D32"/>
                </a:solidFill>
                <a:latin typeface="Arial" panose="020B0604020202020204" pitchFamily="34" charset="0"/>
              </a:rPr>
              <a:t>OSError(28) nach 35,2 s
PipelineManager stürzt ab
Shutdown nach weiteren 2,1 s</a:t>
            </a:r>
            <a:endParaRPr lang="de-DE" sz="1300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A9803E6-B667-4E00-E7EB-9D70E7684CB2}"/>
              </a:ext>
            </a:extLst>
          </p:cNvPr>
          <p:cNvSpPr txBox="1"/>
          <p:nvPr/>
        </p:nvSpPr>
        <p:spPr>
          <a:xfrm>
            <a:off x="8445500" y="5308600"/>
            <a:ext cx="3111500" cy="3175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950">
                <a:solidFill>
                  <a:srgbClr val="6E7D88"/>
                </a:solidFill>
                <a:latin typeface="Arial" panose="020B0604020202020204" pitchFamily="34" charset="0"/>
              </a:rPr>
              <a:t>* aus zwei Pipelines abgeleitet</a:t>
            </a:r>
            <a:endParaRPr lang="de-DE" sz="950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AA14E034-1AA3-C295-9AA0-DCA9DA6272B3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81E3A45-9C29-490E-9C45-8DA4B6D984B1}" type="datetime1">
              <a:rPr lang="de-DE" smtClean="0"/>
              <a:t>31.08.2026</a:t>
            </a:fld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1E5BD92B-51C1-D241-5B39-75F40A3876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ROSI · Verfügbarkeit und Fehlertoleranz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4000E7F3-2852-9E19-64AD-255793857F3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9186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6AFF5AE-7F95-B9A2-B255-BF2330D318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499" y="1333500"/>
            <a:ext cx="7620000" cy="254000"/>
          </a:xfrm>
        </p:spPr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r>
              <a:rPr lang="de-DE" sz="1100" b="1">
                <a:solidFill>
                  <a:srgbClr val="6E7D88"/>
                </a:solidFill>
                <a:latin typeface="Arial" panose="020B0604020202020204" pitchFamily="34" charset="0"/>
              </a:rPr>
              <a:t>ZEITLINIE · Logger pausiert, Pipeline folgt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FBB1EC6-A95F-354F-3889-FB0CB8D4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2200">
                <a:solidFill>
                  <a:srgbClr val="282D32"/>
                </a:solidFill>
                <a:latin typeface="Arial" panose="020B0604020202020204" pitchFamily="34" charset="0"/>
              </a:rPr>
              <a:t>C3 – Blockierende Log-Queue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74A625E-7978-D8F4-E782-B614F01A32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800" b="1">
                <a:solidFill>
                  <a:srgbClr val="6E7D88"/>
                </a:solidFill>
                <a:latin typeface="Arial" panose="020B0604020202020204" pitchFamily="34" charset="0"/>
              </a:rPr>
              <a:t>03 · BEFUNDE · C3 · Quelle: Eigene Messdaten: queue_depth_timeseries.csv; Python Queue-Dokumentation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4A0C48AD-D742-DF37-2D13-AE591DD7A370}"/>
              </a:ext>
            </a:extLst>
          </p:cNvPr>
          <p:cNvCxnSpPr/>
          <p:nvPr/>
        </p:nvCxnSpPr>
        <p:spPr>
          <a:xfrm>
            <a:off x="359410" y="1060450"/>
            <a:ext cx="1145159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D86ADD1-972B-0A71-F4DC-B98B76CF0D58}"/>
              </a:ext>
            </a:extLst>
          </p:cNvPr>
          <p:cNvCxnSpPr/>
          <p:nvPr/>
        </p:nvCxnSpPr>
        <p:spPr>
          <a:xfrm>
            <a:off x="889000" y="2349500"/>
            <a:ext cx="10350500" cy="0"/>
          </a:xfrm>
          <a:prstGeom prst="straightConnector1">
            <a:avLst/>
          </a:prstGeom>
          <a:ln w="20320">
            <a:solidFill>
              <a:srgbClr val="274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F4E67CE6-AB39-7BDD-6BF5-D8473305D9B2}"/>
              </a:ext>
            </a:extLst>
          </p:cNvPr>
          <p:cNvCxnSpPr/>
          <p:nvPr/>
        </p:nvCxnSpPr>
        <p:spPr>
          <a:xfrm>
            <a:off x="1524000" y="2159000"/>
            <a:ext cx="0" cy="406400"/>
          </a:xfrm>
          <a:prstGeom prst="straightConnector1">
            <a:avLst/>
          </a:prstGeom>
          <a:ln w="2540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7D97B72C-0A97-94CD-5FE1-9A2EE760C176}"/>
              </a:ext>
            </a:extLst>
          </p:cNvPr>
          <p:cNvSpPr txBox="1"/>
          <p:nvPr/>
        </p:nvSpPr>
        <p:spPr>
          <a:xfrm>
            <a:off x="787400" y="1841500"/>
            <a:ext cx="14732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100" b="1">
                <a:solidFill>
                  <a:srgbClr val="ED1B24"/>
                </a:solidFill>
                <a:latin typeface="Arial" panose="020B0604020202020204" pitchFamily="34" charset="0"/>
              </a:rPr>
              <a:t>t0</a:t>
            </a:r>
            <a:endParaRPr lang="de-DE" sz="1100" b="1" dirty="0" err="1">
              <a:solidFill>
                <a:srgbClr val="ED1B24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CB1417C-4B82-BA2C-F754-39D85CC5B561}"/>
              </a:ext>
            </a:extLst>
          </p:cNvPr>
          <p:cNvSpPr txBox="1"/>
          <p:nvPr/>
        </p:nvSpPr>
        <p:spPr>
          <a:xfrm>
            <a:off x="596900" y="2654300"/>
            <a:ext cx="1854200" cy="5461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050" b="1">
                <a:solidFill>
                  <a:srgbClr val="282D32"/>
                </a:solidFill>
                <a:latin typeface="Arial" panose="020B0604020202020204" pitchFamily="34" charset="0"/>
              </a:rPr>
              <a:t>SIGSTOP
Logger</a:t>
            </a:r>
            <a:endParaRPr lang="de-DE" sz="105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7B017794-32C3-FA05-7AB3-28BB41AD875A}"/>
              </a:ext>
            </a:extLst>
          </p:cNvPr>
          <p:cNvCxnSpPr/>
          <p:nvPr/>
        </p:nvCxnSpPr>
        <p:spPr>
          <a:xfrm>
            <a:off x="4191000" y="2159000"/>
            <a:ext cx="0" cy="406400"/>
          </a:xfrm>
          <a:prstGeom prst="straightConnector1">
            <a:avLst/>
          </a:prstGeom>
          <a:ln w="2540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6F72D48D-C734-D626-1147-7B83192D5381}"/>
              </a:ext>
            </a:extLst>
          </p:cNvPr>
          <p:cNvSpPr txBox="1"/>
          <p:nvPr/>
        </p:nvSpPr>
        <p:spPr>
          <a:xfrm>
            <a:off x="3454400" y="1841500"/>
            <a:ext cx="14732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100" b="1">
                <a:solidFill>
                  <a:srgbClr val="ED1B24"/>
                </a:solidFill>
                <a:latin typeface="Arial" panose="020B0604020202020204" pitchFamily="34" charset="0"/>
              </a:rPr>
              <a:t>t + 1,3 s</a:t>
            </a:r>
            <a:endParaRPr lang="de-DE" sz="1100" b="1" dirty="0" err="1">
              <a:solidFill>
                <a:srgbClr val="ED1B24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2EA5505-56BC-6E4F-86F7-AC5BE23B6680}"/>
              </a:ext>
            </a:extLst>
          </p:cNvPr>
          <p:cNvSpPr txBox="1"/>
          <p:nvPr/>
        </p:nvSpPr>
        <p:spPr>
          <a:xfrm>
            <a:off x="3263900" y="2654300"/>
            <a:ext cx="1854200" cy="5461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050" b="1">
                <a:solidFill>
                  <a:srgbClr val="282D32"/>
                </a:solidFill>
                <a:latin typeface="Arial" panose="020B0604020202020204" pitchFamily="34" charset="0"/>
              </a:rPr>
              <a:t>letzter
in-flight Abschluss</a:t>
            </a:r>
            <a:endParaRPr lang="de-DE" sz="105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FE054873-6C45-2EA7-7A34-2ADAA5224F43}"/>
              </a:ext>
            </a:extLst>
          </p:cNvPr>
          <p:cNvCxnSpPr/>
          <p:nvPr/>
        </p:nvCxnSpPr>
        <p:spPr>
          <a:xfrm>
            <a:off x="7366000" y="2159000"/>
            <a:ext cx="0" cy="406400"/>
          </a:xfrm>
          <a:prstGeom prst="straightConnector1">
            <a:avLst/>
          </a:prstGeom>
          <a:ln w="25400">
            <a:solidFill>
              <a:srgbClr val="585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01BCF6B7-CC87-9DE7-D0B2-4703014CC158}"/>
              </a:ext>
            </a:extLst>
          </p:cNvPr>
          <p:cNvSpPr txBox="1"/>
          <p:nvPr/>
        </p:nvSpPr>
        <p:spPr>
          <a:xfrm>
            <a:off x="6629400" y="1841500"/>
            <a:ext cx="14732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100" b="1">
                <a:solidFill>
                  <a:srgbClr val="585E63"/>
                </a:solidFill>
                <a:latin typeface="Arial" panose="020B0604020202020204" pitchFamily="34" charset="0"/>
              </a:rPr>
              <a:t>t + 30,4 s</a:t>
            </a:r>
            <a:endParaRPr lang="de-DE" sz="1100" b="1" dirty="0" err="1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FAC19F9-84B2-D2A6-F38A-78F0FFBD069A}"/>
              </a:ext>
            </a:extLst>
          </p:cNvPr>
          <p:cNvSpPr txBox="1"/>
          <p:nvPr/>
        </p:nvSpPr>
        <p:spPr>
          <a:xfrm>
            <a:off x="6438900" y="2654300"/>
            <a:ext cx="1854200" cy="5461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050" b="1">
                <a:solidFill>
                  <a:srgbClr val="282D32"/>
                </a:solidFill>
                <a:latin typeface="Arial" panose="020B0604020202020204" pitchFamily="34" charset="0"/>
              </a:rPr>
              <a:t>Messlücke
Monitor pausiert</a:t>
            </a:r>
            <a:endParaRPr lang="de-DE" sz="105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E6C59F7F-9F9D-3900-F68F-CA3F58A2E55C}"/>
              </a:ext>
            </a:extLst>
          </p:cNvPr>
          <p:cNvCxnSpPr/>
          <p:nvPr/>
        </p:nvCxnSpPr>
        <p:spPr>
          <a:xfrm>
            <a:off x="10223500" y="2159000"/>
            <a:ext cx="0" cy="406400"/>
          </a:xfrm>
          <a:prstGeom prst="straightConnector1">
            <a:avLst/>
          </a:prstGeom>
          <a:ln w="25400">
            <a:solidFill>
              <a:srgbClr val="1762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B5DC6EE4-62B5-F99F-2740-8A990AE08BD3}"/>
              </a:ext>
            </a:extLst>
          </p:cNvPr>
          <p:cNvSpPr txBox="1"/>
          <p:nvPr/>
        </p:nvSpPr>
        <p:spPr>
          <a:xfrm>
            <a:off x="9486900" y="1841500"/>
            <a:ext cx="14732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100" b="1">
                <a:solidFill>
                  <a:srgbClr val="1762BF"/>
                </a:solidFill>
                <a:latin typeface="Arial" panose="020B0604020202020204" pitchFamily="34" charset="0"/>
              </a:rPr>
              <a:t>SIGCONT</a:t>
            </a:r>
            <a:endParaRPr lang="de-DE" sz="1100" b="1" dirty="0" err="1">
              <a:solidFill>
                <a:srgbClr val="1762BF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A3ABADB-3A72-5C13-3589-896157EFAFFC}"/>
              </a:ext>
            </a:extLst>
          </p:cNvPr>
          <p:cNvSpPr txBox="1"/>
          <p:nvPr/>
        </p:nvSpPr>
        <p:spPr>
          <a:xfrm>
            <a:off x="9296400" y="2654300"/>
            <a:ext cx="1854200" cy="5461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nl-NL" sz="1050" b="1">
                <a:solidFill>
                  <a:srgbClr val="282D32"/>
                </a:solidFill>
                <a:latin typeface="Arial" panose="020B0604020202020204" pitchFamily="34" charset="0"/>
              </a:rPr>
              <a:t>Queue leert
in &lt; 0,3 s</a:t>
            </a:r>
            <a:endParaRPr lang="de-DE" sz="105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0" name="C3EvidenceTable">
            <a:extLst>
              <a:ext uri="{FF2B5EF4-FFF2-40B4-BE49-F238E27FC236}">
                <a16:creationId xmlns:a16="http://schemas.microsoft.com/office/drawing/2014/main" id="{7EAB6C17-19EB-0019-3C37-EB5833299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981518"/>
              </p:ext>
            </p:extLst>
          </p:nvPr>
        </p:nvGraphicFramePr>
        <p:xfrm>
          <a:off x="571499" y="3619500"/>
          <a:ext cx="11049000" cy="173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64080068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369978766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725354497"/>
                    </a:ext>
                  </a:extLst>
                </a:gridCol>
              </a:tblGrid>
              <a:tr h="34798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Evidenz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Status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Bedeutung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300796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9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17 Pipelines / 5 s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9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direkt gemessen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9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vor SIGSTOP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041957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9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qsize max. 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9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direkt gemessen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9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vor Messlücke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68749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9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≈30,4 s ohne Werte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9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direkt gemessen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9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Logger und Monitor pausiert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274738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9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Queue-Füllstand 1000</a:t>
                      </a:r>
                    </a:p>
                  </a:txBody>
                  <a:tcPr marL="50800" marR="50800" marT="25400" marB="25400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95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technisch abgeleitet</a:t>
                      </a:r>
                    </a:p>
                  </a:txBody>
                  <a:tcPr marL="50800" marR="50800" marT="25400" marB="25400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950" b="0" dirty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kein direkter </a:t>
                      </a:r>
                      <a:r>
                        <a:rPr lang="de-DE" sz="950" b="0" dirty="0" err="1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qsize</a:t>
                      </a:r>
                      <a:r>
                        <a:rPr lang="de-DE" sz="950" b="0" dirty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-Nachweis</a:t>
                      </a:r>
                    </a:p>
                  </a:txBody>
                  <a:tcPr marL="50800" marR="50800" marT="25400" marB="25400" anchor="ctr">
                    <a:solidFill>
                      <a:srgbClr val="FB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8787"/>
                  </a:ext>
                </a:extLst>
              </a:tr>
            </a:tbl>
          </a:graphicData>
        </a:graphic>
      </p:graphicFrame>
      <p:sp>
        <p:nvSpPr>
          <p:cNvPr id="21" name="Textfeld 20">
            <a:extLst>
              <a:ext uri="{FF2B5EF4-FFF2-40B4-BE49-F238E27FC236}">
                <a16:creationId xmlns:a16="http://schemas.microsoft.com/office/drawing/2014/main" id="{193B65A8-163F-840B-285C-1E74BF6BE7C5}"/>
              </a:ext>
            </a:extLst>
          </p:cNvPr>
          <p:cNvSpPr txBox="1"/>
          <p:nvPr/>
        </p:nvSpPr>
        <p:spPr>
          <a:xfrm>
            <a:off x="571500" y="5575300"/>
            <a:ext cx="11049000" cy="3048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200" b="1">
                <a:solidFill>
                  <a:srgbClr val="282D32"/>
                </a:solidFill>
                <a:latin typeface="Arial" panose="020B0604020202020204" pitchFamily="34" charset="0"/>
              </a:rPr>
              <a:t>Konsequenz: synchrones put ohne Timeout koppelt Logging an den Inspektionspfad.</a:t>
            </a:r>
            <a:endParaRPr lang="de-DE" sz="12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22" name="Datumsplatzhalter 21">
            <a:extLst>
              <a:ext uri="{FF2B5EF4-FFF2-40B4-BE49-F238E27FC236}">
                <a16:creationId xmlns:a16="http://schemas.microsoft.com/office/drawing/2014/main" id="{A53AA6F1-B65B-69D7-7A4A-7BCCFBED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67C99-28CE-4A69-A7D7-82CAD670A4DD}" type="datetime1">
              <a:rPr lang="de-DE" smtClean="0"/>
              <a:t>31.08.2026</a:t>
            </a:fld>
            <a:endParaRPr lang="de-DE"/>
          </a:p>
        </p:txBody>
      </p:sp>
      <p:sp>
        <p:nvSpPr>
          <p:cNvPr id="23" name="Fußzeilenplatzhalter 22">
            <a:extLst>
              <a:ext uri="{FF2B5EF4-FFF2-40B4-BE49-F238E27FC236}">
                <a16:creationId xmlns:a16="http://schemas.microsoft.com/office/drawing/2014/main" id="{498463AF-5CDB-234F-6901-A8281FC78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ROSI · Verfügbarkeit und Fehlertoleranz</a:t>
            </a:r>
          </a:p>
        </p:txBody>
      </p:sp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464434AE-8917-705B-4BDD-74DF793D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713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30FDAA7-F00C-FFA4-4E62-3474FA4171F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499" y="1333500"/>
            <a:ext cx="11049000" cy="254000"/>
          </a:xfrm>
        </p:spPr>
        <p:txBody>
          <a:bodyPr wrap="square" lIns="6350" tIns="6350" rIns="6350" bIns="6350" anchor="t">
            <a:noAutofit/>
          </a:bodyPr>
          <a:lstStyle/>
          <a:p>
            <a:pPr marL="0" indent="0" algn="ctr">
              <a:buNone/>
            </a:pPr>
            <a:r>
              <a:rPr lang="de-DE" sz="1100" b="1">
                <a:solidFill>
                  <a:srgbClr val="6E7D88"/>
                </a:solidFill>
                <a:latin typeface="Arial" panose="020B0604020202020204" pitchFamily="34" charset="0"/>
              </a:rPr>
              <a:t>NEGATIVKONTROLLE VS. PRODUKTIONSRISIKO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3C8346A-52E5-2F0C-DD04-805B585C2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2200">
                <a:solidFill>
                  <a:srgbClr val="282D32"/>
                </a:solidFill>
                <a:latin typeface="Arial" panose="020B0604020202020204" pitchFamily="34" charset="0"/>
              </a:rPr>
              <a:t>C4 – Veraltete Datenbankverbindungen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065118D-AE35-8FFD-155A-65CEF4A427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800" b="1">
                <a:solidFill>
                  <a:srgbClr val="6E7D88"/>
                </a:solidFill>
                <a:latin typeface="Arial" panose="020B0604020202020204" pitchFamily="34" charset="0"/>
              </a:rPr>
              <a:t>03 · BEFUNDE · C4 · Quelle: Eigene Ausarbeitung, Kap. 5.4; Django Documentation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648492D2-2CDF-177B-CE3E-F50670CE3315}"/>
              </a:ext>
            </a:extLst>
          </p:cNvPr>
          <p:cNvCxnSpPr/>
          <p:nvPr/>
        </p:nvCxnSpPr>
        <p:spPr>
          <a:xfrm>
            <a:off x="359410" y="1060450"/>
            <a:ext cx="1145159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4Comparison">
            <a:extLst>
              <a:ext uri="{FF2B5EF4-FFF2-40B4-BE49-F238E27FC236}">
                <a16:creationId xmlns:a16="http://schemas.microsoft.com/office/drawing/2014/main" id="{586957DA-6737-84DC-A6F4-AFFDF2F20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326797"/>
              </p:ext>
            </p:extLst>
          </p:nvPr>
        </p:nvGraphicFramePr>
        <p:xfrm>
          <a:off x="698499" y="1905000"/>
          <a:ext cx="107950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500">
                  <a:extLst>
                    <a:ext uri="{9D8B030D-6E8A-4147-A177-3AD203B41FA5}">
                      <a16:colId xmlns:a16="http://schemas.microsoft.com/office/drawing/2014/main" val="3647563685"/>
                    </a:ext>
                  </a:extLst>
                </a:gridCol>
                <a:gridCol w="5397500">
                  <a:extLst>
                    <a:ext uri="{9D8B030D-6E8A-4147-A177-3AD203B41FA5}">
                      <a16:colId xmlns:a16="http://schemas.microsoft.com/office/drawing/2014/main" val="610971767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Entwicklung (direkt getestet)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Produktion (analytisch abgeleitet)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936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3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27 Verbindungen terminiert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3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Persistente Verbindung nach Pause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80284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3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kein OperationalError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3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veraltete TCP-Verbindung möglich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72374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3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frische Verbindung je Zugriff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3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Produktionskonfiguration zu bestätigen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279289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3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Negativkontrolle: Pfad maskiert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300" b="0" dirty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Nächster Test: Pause + kontrollierter </a:t>
                      </a:r>
                      <a:r>
                        <a:rPr lang="de-DE" sz="1300" b="0" dirty="0" err="1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Reopen</a:t>
                      </a:r>
                      <a:endParaRPr lang="de-DE" sz="1300" b="0" dirty="0">
                        <a:solidFill>
                          <a:srgbClr val="585E6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934827"/>
                  </a:ext>
                </a:extLst>
              </a:tr>
            </a:tbl>
          </a:graphicData>
        </a:graphic>
      </p:graphicFrame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5697942-4765-21C7-C61D-43472E44D3C3}"/>
              </a:ext>
            </a:extLst>
          </p:cNvPr>
          <p:cNvCxnSpPr/>
          <p:nvPr/>
        </p:nvCxnSpPr>
        <p:spPr>
          <a:xfrm>
            <a:off x="698500" y="5308600"/>
            <a:ext cx="10795000" cy="0"/>
          </a:xfrm>
          <a:prstGeom prst="straightConnector1">
            <a:avLst/>
          </a:prstGeom>
          <a:ln w="1778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323E38C2-5CED-86D1-B15E-4F7EEE7CFCD9}"/>
              </a:ext>
            </a:extLst>
          </p:cNvPr>
          <p:cNvSpPr txBox="1"/>
          <p:nvPr/>
        </p:nvSpPr>
        <p:spPr>
          <a:xfrm>
            <a:off x="698500" y="5473700"/>
            <a:ext cx="10795000" cy="3302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150" b="1">
                <a:solidFill>
                  <a:srgbClr val="282D32"/>
                </a:solidFill>
                <a:latin typeface="Arial" panose="020B0604020202020204" pitchFamily="34" charset="0"/>
              </a:rPr>
              <a:t>Aussagegrenze: Der konkrete Produktionswert von CONN_MAX_AGE ist vor der Bewertung zu bestätigen.</a:t>
            </a:r>
            <a:endParaRPr lang="de-DE" sz="115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B959D2C3-4D33-1D5B-FB2F-93B98DCF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EDEC-6E5B-4C1F-A85E-A04FA4801353}" type="datetime1">
              <a:rPr lang="de-DE" smtClean="0"/>
              <a:t>31.08.2026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A32A5F3-6649-D70C-A990-EEA52EC70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ROSI · Verfügbarkeit und Fehlertoleranz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7E58D28-E3B1-70A5-477F-551A7E30E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7523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D2C1EB1-E9A3-62D3-5E08-4C1F4470E3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499" y="1333500"/>
            <a:ext cx="11049000" cy="254000"/>
          </a:xfrm>
        </p:spPr>
        <p:txBody>
          <a:bodyPr wrap="square" lIns="6350" tIns="6350" rIns="6350" bIns="6350" anchor="t">
            <a:noAutofit/>
          </a:bodyPr>
          <a:lstStyle/>
          <a:p>
            <a:pPr marL="0" indent="0" algn="ctr">
              <a:buNone/>
            </a:pPr>
            <a:r>
              <a:rPr lang="de-DE" sz="1100" b="1">
                <a:solidFill>
                  <a:srgbClr val="6E7D88"/>
                </a:solidFill>
                <a:latin typeface="Arial" panose="020B0604020202020204" pitchFamily="34" charset="0"/>
              </a:rPr>
              <a:t>TIMING-VERGLEICH · gemessener Zugriff gegenüber regulärer Freigabe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490B9F6-354C-1897-F711-8B31216FC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2200">
                <a:solidFill>
                  <a:srgbClr val="282D32"/>
                </a:solidFill>
                <a:latin typeface="Arial" panose="020B0604020202020204" pitchFamily="34" charset="0"/>
              </a:rPr>
              <a:t>C5 – Prüfung einer Shared-Memory-Race-Hypothese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06A416F-6AF7-5C27-A5F9-9EE8FA36EE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800" b="1">
                <a:solidFill>
                  <a:srgbClr val="6E7D88"/>
                </a:solidFill>
                <a:latin typeface="Arial" panose="020B0604020202020204" pitchFamily="34" charset="0"/>
              </a:rPr>
              <a:t>03 · BEFUNDE · C5 · Quelle: Eigene Messung: case5_gc_race.log; Python shared_memory-Dokumentation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DFC6DAAD-F858-C3C7-05AF-EBB034EF72E2}"/>
              </a:ext>
            </a:extLst>
          </p:cNvPr>
          <p:cNvCxnSpPr/>
          <p:nvPr/>
        </p:nvCxnSpPr>
        <p:spPr>
          <a:xfrm>
            <a:off x="359410" y="1060450"/>
            <a:ext cx="1145159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94440A97-E5AB-682D-9EB1-84C148BB3EC0}"/>
              </a:ext>
            </a:extLst>
          </p:cNvPr>
          <p:cNvSpPr txBox="1"/>
          <p:nvPr/>
        </p:nvSpPr>
        <p:spPr>
          <a:xfrm>
            <a:off x="635000" y="1968500"/>
            <a:ext cx="3175000" cy="254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1200" b="1">
                <a:solidFill>
                  <a:srgbClr val="282D32"/>
                </a:solidFill>
                <a:latin typeface="Arial" panose="020B0604020202020204" pitchFamily="34" charset="0"/>
              </a:rPr>
              <a:t>Letzter Zugriff · Schritt 5</a:t>
            </a:r>
            <a:endParaRPr lang="de-DE" sz="12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8" name="C5AccessBar">
            <a:extLst>
              <a:ext uri="{FF2B5EF4-FFF2-40B4-BE49-F238E27FC236}">
                <a16:creationId xmlns:a16="http://schemas.microsoft.com/office/drawing/2014/main" id="{225F4BDD-75AE-1D45-6AF0-7F0D5804756A}"/>
              </a:ext>
            </a:extLst>
          </p:cNvPr>
          <p:cNvSpPr/>
          <p:nvPr/>
        </p:nvSpPr>
        <p:spPr>
          <a:xfrm>
            <a:off x="4000500" y="1955800"/>
            <a:ext cx="1460500" cy="292100"/>
          </a:xfrm>
          <a:prstGeom prst="rect">
            <a:avLst/>
          </a:prstGeom>
          <a:solidFill>
            <a:srgbClr val="EEF3F7"/>
          </a:solidFill>
          <a:ln w="12700">
            <a:solidFill>
              <a:srgbClr val="91A5B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5562DF1-1ED5-3737-E203-0994EABEE979}"/>
              </a:ext>
            </a:extLst>
          </p:cNvPr>
          <p:cNvSpPr txBox="1"/>
          <p:nvPr/>
        </p:nvSpPr>
        <p:spPr>
          <a:xfrm>
            <a:off x="4089400" y="1993900"/>
            <a:ext cx="1282700" cy="2159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050" b="1">
                <a:solidFill>
                  <a:srgbClr val="274A63"/>
                </a:solidFill>
                <a:latin typeface="Arial" panose="020B0604020202020204" pitchFamily="34" charset="0"/>
              </a:rPr>
              <a:t>45–107 ms</a:t>
            </a:r>
            <a:endParaRPr lang="de-DE" sz="1050" b="1" dirty="0" err="1">
              <a:solidFill>
                <a:srgbClr val="274A63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B99A664-E7D2-FE8B-7856-D23F8BE09633}"/>
              </a:ext>
            </a:extLst>
          </p:cNvPr>
          <p:cNvSpPr txBox="1"/>
          <p:nvPr/>
        </p:nvSpPr>
        <p:spPr>
          <a:xfrm>
            <a:off x="5905500" y="1968500"/>
            <a:ext cx="5080000" cy="254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1100">
                <a:solidFill>
                  <a:srgbClr val="585E63"/>
                </a:solidFill>
                <a:latin typeface="Arial" panose="020B0604020202020204" pitchFamily="34" charset="0"/>
              </a:rPr>
              <a:t>direkt gemessen · letzter relevanter Zugriff</a:t>
            </a:r>
            <a:endParaRPr lang="de-DE" sz="1100" dirty="0" err="1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0656AE8-EBFB-46F4-DA4F-9AED4E099BA2}"/>
              </a:ext>
            </a:extLst>
          </p:cNvPr>
          <p:cNvSpPr txBox="1"/>
          <p:nvPr/>
        </p:nvSpPr>
        <p:spPr>
          <a:xfrm>
            <a:off x="635000" y="2717800"/>
            <a:ext cx="3175000" cy="254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1200" b="1">
                <a:solidFill>
                  <a:srgbClr val="282D32"/>
                </a:solidFill>
                <a:latin typeface="Arial" panose="020B0604020202020204" pitchFamily="34" charset="0"/>
              </a:rPr>
              <a:t>Reguläre GC-Freigabe</a:t>
            </a:r>
            <a:endParaRPr lang="de-DE" sz="12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2" name="C5GcBar">
            <a:extLst>
              <a:ext uri="{FF2B5EF4-FFF2-40B4-BE49-F238E27FC236}">
                <a16:creationId xmlns:a16="http://schemas.microsoft.com/office/drawing/2014/main" id="{28815FD6-A09C-6E6B-14A9-EF73161B07DB}"/>
              </a:ext>
            </a:extLst>
          </p:cNvPr>
          <p:cNvSpPr/>
          <p:nvPr/>
        </p:nvSpPr>
        <p:spPr>
          <a:xfrm>
            <a:off x="4000500" y="2705100"/>
            <a:ext cx="6350000" cy="292100"/>
          </a:xfrm>
          <a:prstGeom prst="rect">
            <a:avLst/>
          </a:prstGeom>
          <a:solidFill>
            <a:srgbClr val="F2F4F5"/>
          </a:solidFill>
          <a:ln w="12700">
            <a:solidFill>
              <a:srgbClr val="91A5B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B835057-129B-E2FC-18FD-91D832C0EE69}"/>
              </a:ext>
            </a:extLst>
          </p:cNvPr>
          <p:cNvSpPr txBox="1"/>
          <p:nvPr/>
        </p:nvSpPr>
        <p:spPr>
          <a:xfrm>
            <a:off x="4089400" y="2743200"/>
            <a:ext cx="6172200" cy="2159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050" b="1">
                <a:solidFill>
                  <a:srgbClr val="282D32"/>
                </a:solidFill>
                <a:latin typeface="Arial" panose="020B0604020202020204" pitchFamily="34" charset="0"/>
              </a:rPr>
              <a:t>≈10 s · reguläre Schwelle</a:t>
            </a:r>
            <a:endParaRPr lang="de-DE" sz="105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C8715E1-4A45-9FDC-6EE0-B159E768EEC4}"/>
              </a:ext>
            </a:extLst>
          </p:cNvPr>
          <p:cNvSpPr txBox="1"/>
          <p:nvPr/>
        </p:nvSpPr>
        <p:spPr>
          <a:xfrm>
            <a:off x="5905500" y="3136900"/>
            <a:ext cx="5080000" cy="2413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1100">
                <a:solidFill>
                  <a:srgbClr val="585E63"/>
                </a:solidFill>
                <a:latin typeface="Arial" panose="020B0604020202020204" pitchFamily="34" charset="0"/>
              </a:rPr>
              <a:t>technischer Referenzwert · kein Fehlerereignis</a:t>
            </a:r>
            <a:endParaRPr lang="de-DE" sz="1100" dirty="0" err="1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73C9442C-BBC4-0ADC-2F13-0A3AE2F8C2BC}"/>
              </a:ext>
            </a:extLst>
          </p:cNvPr>
          <p:cNvCxnSpPr/>
          <p:nvPr/>
        </p:nvCxnSpPr>
        <p:spPr>
          <a:xfrm>
            <a:off x="635000" y="3683000"/>
            <a:ext cx="10858500" cy="0"/>
          </a:xfrm>
          <a:prstGeom prst="straightConnector1">
            <a:avLst/>
          </a:prstGeom>
          <a:ln w="12700">
            <a:solidFill>
              <a:srgbClr val="D7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5TimingTable">
            <a:extLst>
              <a:ext uri="{FF2B5EF4-FFF2-40B4-BE49-F238E27FC236}">
                <a16:creationId xmlns:a16="http://schemas.microsoft.com/office/drawing/2014/main" id="{6BF681DE-85FA-D45F-20EC-E2FAAB2C3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745996"/>
              </p:ext>
            </p:extLst>
          </p:nvPr>
        </p:nvGraphicFramePr>
        <p:xfrm>
          <a:off x="634999" y="3898900"/>
          <a:ext cx="10858500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357631147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166756291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369285752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Beobachtung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Wert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Einordnung</a:t>
                      </a:r>
                    </a:p>
                  </a:txBody>
                  <a:tcPr marL="50800" marR="50800" marT="25400" marB="25400" anchor="ctr">
                    <a:solidFill>
                      <a:srgbClr val="282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48649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Zugriff in Schritt 5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45–107 ms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direkt gemessen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94426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GC-Freigabe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≈10 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reguläre Schwelle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547759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Zeitlicher Puffer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≈100×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000" b="0" dirty="0">
                          <a:solidFill>
                            <a:srgbClr val="585E63"/>
                          </a:solidFill>
                          <a:latin typeface="Arial" panose="020B0604020202020204" pitchFamily="34" charset="0"/>
                        </a:rPr>
                        <a:t>aus den Werten abgeleitet</a:t>
                      </a:r>
                    </a:p>
                  </a:txBody>
                  <a:tcPr marL="50800" marR="50800" marT="25400" marB="25400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911393"/>
                  </a:ext>
                </a:extLst>
              </a:tr>
            </a:tbl>
          </a:graphicData>
        </a:graphic>
      </p:graphicFrame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97493B7-6650-290E-C960-9ED83F6291DB}"/>
              </a:ext>
            </a:extLst>
          </p:cNvPr>
          <p:cNvCxnSpPr/>
          <p:nvPr/>
        </p:nvCxnSpPr>
        <p:spPr>
          <a:xfrm>
            <a:off x="635000" y="5613400"/>
            <a:ext cx="0" cy="355600"/>
          </a:xfrm>
          <a:prstGeom prst="straightConnector1">
            <a:avLst/>
          </a:prstGeom>
          <a:ln w="2540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0B2CAB2D-92AB-DFED-8999-13962816AEED}"/>
              </a:ext>
            </a:extLst>
          </p:cNvPr>
          <p:cNvSpPr txBox="1"/>
          <p:nvPr/>
        </p:nvSpPr>
        <p:spPr>
          <a:xfrm>
            <a:off x="825500" y="5600700"/>
            <a:ext cx="10668000" cy="381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1150" b="1">
                <a:solidFill>
                  <a:srgbClr val="282D32"/>
                </a:solidFill>
                <a:latin typeface="Arial" panose="020B0604020202020204" pitchFamily="34" charset="0"/>
              </a:rPr>
              <a:t>Kein FileNotFoundError, BrokenPipeError oder Absturz in 120 s · Hypothese im getesteten Aufbau nicht bestätigt.</a:t>
            </a:r>
            <a:endParaRPr lang="de-DE" sz="115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67ABFB9F-8EEE-EF56-0FA6-1652122C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1AC1-6D49-47C1-AC99-DF14FDFC2A81}" type="datetime1">
              <a:rPr lang="de-DE" smtClean="0"/>
              <a:t>31.08.2026</a:t>
            </a:fld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166BE49C-B6C9-F5AF-9074-E066A8838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ROSI · Verfügbarkeit und Fehlertoleranz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1E871168-EBC6-6B7C-202F-F2D47376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483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76AC53F-CA05-8010-9C72-0B091F40A6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499" y="1333500"/>
            <a:ext cx="11049000" cy="254000"/>
          </a:xfrm>
        </p:spPr>
        <p:txBody>
          <a:bodyPr wrap="square" lIns="6350" tIns="6350" rIns="6350" bIns="6350" anchor="t">
            <a:noAutofit/>
          </a:bodyPr>
          <a:lstStyle/>
          <a:p>
            <a:pPr marL="0" indent="0" algn="ctr">
              <a:buNone/>
            </a:pPr>
            <a:r>
              <a:rPr lang="de-DE" sz="1300" b="1">
                <a:solidFill>
                  <a:srgbClr val="282D32"/>
                </a:solidFill>
                <a:latin typeface="Arial" panose="020B0604020202020204" pitchFamily="34" charset="0"/>
              </a:rPr>
              <a:t>C1–C4 zeigen dasselbe Muster an unterschiedlichen technischen Grenzen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4EA6CB0-38F9-BA43-BEC2-CA9C0731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2200">
                <a:solidFill>
                  <a:srgbClr val="282D32"/>
                </a:solidFill>
                <a:latin typeface="Arial" panose="020B0604020202020204" pitchFamily="34" charset="0"/>
              </a:rPr>
              <a:t>Synthetisierte Ursache-Wirkungs-Kette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AE51B-257E-7CD7-3FBF-B203AC635F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800" b="1">
                <a:solidFill>
                  <a:srgbClr val="6E7D88"/>
                </a:solidFill>
                <a:latin typeface="Arial" panose="020B0604020202020204" pitchFamily="34" charset="0"/>
              </a:rPr>
              <a:t>04 · SYNTHESE · Quelle: Eigene Synthese, Kap. 6; Avizienis et al. (2004)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2E8B2B69-62BB-948E-F0D9-53D4CA5326A9}"/>
              </a:ext>
            </a:extLst>
          </p:cNvPr>
          <p:cNvCxnSpPr/>
          <p:nvPr/>
        </p:nvCxnSpPr>
        <p:spPr>
          <a:xfrm>
            <a:off x="359410" y="1060450"/>
            <a:ext cx="1145159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hain_LOKALER FEHLER">
            <a:extLst>
              <a:ext uri="{FF2B5EF4-FFF2-40B4-BE49-F238E27FC236}">
                <a16:creationId xmlns:a16="http://schemas.microsoft.com/office/drawing/2014/main" id="{855CD445-B6AB-99E1-D708-723FEB4E6B08}"/>
              </a:ext>
            </a:extLst>
          </p:cNvPr>
          <p:cNvSpPr/>
          <p:nvPr/>
        </p:nvSpPr>
        <p:spPr>
          <a:xfrm>
            <a:off x="444500" y="2247900"/>
            <a:ext cx="2032000" cy="1587500"/>
          </a:xfrm>
          <a:prstGeom prst="rect">
            <a:avLst/>
          </a:prstGeom>
          <a:solidFill>
            <a:srgbClr val="F2F4F5"/>
          </a:solidFill>
          <a:ln w="15240">
            <a:solidFill>
              <a:srgbClr val="91A5B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AFB16D3-DBD2-A843-9425-68A06223330B}"/>
              </a:ext>
            </a:extLst>
          </p:cNvPr>
          <p:cNvSpPr txBox="1"/>
          <p:nvPr/>
        </p:nvSpPr>
        <p:spPr>
          <a:xfrm>
            <a:off x="546100" y="2413000"/>
            <a:ext cx="1828800" cy="254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900" b="1">
                <a:solidFill>
                  <a:srgbClr val="6E7D88"/>
                </a:solidFill>
                <a:latin typeface="Arial" panose="020B0604020202020204" pitchFamily="34" charset="0"/>
              </a:rPr>
              <a:t>LOKALER FEHLER</a:t>
            </a:r>
            <a:endParaRPr lang="de-DE" sz="90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65F8F67-5B49-3151-FDA1-F8E05C9250D4}"/>
              </a:ext>
            </a:extLst>
          </p:cNvPr>
          <p:cNvSpPr txBox="1"/>
          <p:nvPr/>
        </p:nvSpPr>
        <p:spPr>
          <a:xfrm>
            <a:off x="596900" y="2844800"/>
            <a:ext cx="1727200" cy="9652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500" b="1">
                <a:solidFill>
                  <a:srgbClr val="282D32"/>
                </a:solidFill>
                <a:latin typeface="Arial" panose="020B0604020202020204" pitchFamily="34" charset="0"/>
              </a:rPr>
              <a:t>Prozess
Speicher
Queue
Verbindung</a:t>
            </a:r>
            <a:endParaRPr lang="de-DE" sz="15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0" name="Chain_SCHUTZLÜCKE">
            <a:extLst>
              <a:ext uri="{FF2B5EF4-FFF2-40B4-BE49-F238E27FC236}">
                <a16:creationId xmlns:a16="http://schemas.microsoft.com/office/drawing/2014/main" id="{289FF8AD-066D-9869-A042-D103F88B5EF1}"/>
              </a:ext>
            </a:extLst>
          </p:cNvPr>
          <p:cNvSpPr/>
          <p:nvPr/>
        </p:nvSpPr>
        <p:spPr>
          <a:xfrm>
            <a:off x="2730500" y="2247900"/>
            <a:ext cx="2032000" cy="1587500"/>
          </a:xfrm>
          <a:prstGeom prst="rect">
            <a:avLst/>
          </a:prstGeom>
          <a:solidFill>
            <a:srgbClr val="F2F4F5"/>
          </a:solidFill>
          <a:ln w="15240">
            <a:solidFill>
              <a:srgbClr val="91A5B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48A6C2B-8AC2-C843-F245-712F901F3FE1}"/>
              </a:ext>
            </a:extLst>
          </p:cNvPr>
          <p:cNvSpPr txBox="1"/>
          <p:nvPr/>
        </p:nvSpPr>
        <p:spPr>
          <a:xfrm>
            <a:off x="2832100" y="2413000"/>
            <a:ext cx="1828800" cy="254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900" b="1">
                <a:solidFill>
                  <a:srgbClr val="6E7D88"/>
                </a:solidFill>
                <a:latin typeface="Arial" panose="020B0604020202020204" pitchFamily="34" charset="0"/>
              </a:rPr>
              <a:t>SCHUTZLÜCKE</a:t>
            </a:r>
            <a:endParaRPr lang="de-DE" sz="90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6022079-D050-4B86-4847-4D239D719B81}"/>
              </a:ext>
            </a:extLst>
          </p:cNvPr>
          <p:cNvSpPr txBox="1"/>
          <p:nvPr/>
        </p:nvSpPr>
        <p:spPr>
          <a:xfrm>
            <a:off x="2882900" y="2844800"/>
            <a:ext cx="1727200" cy="9652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500" b="1">
                <a:solidFill>
                  <a:srgbClr val="282D32"/>
                </a:solidFill>
                <a:latin typeface="Arial" panose="020B0604020202020204" pitchFamily="34" charset="0"/>
              </a:rPr>
              <a:t>keine
Supervision
kein Timeout</a:t>
            </a:r>
            <a:endParaRPr lang="de-DE" sz="15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3" name="Chain_WEITERGABE">
            <a:extLst>
              <a:ext uri="{FF2B5EF4-FFF2-40B4-BE49-F238E27FC236}">
                <a16:creationId xmlns:a16="http://schemas.microsoft.com/office/drawing/2014/main" id="{0026C332-63D9-403B-A2E0-3CE38543DBBC}"/>
              </a:ext>
            </a:extLst>
          </p:cNvPr>
          <p:cNvSpPr/>
          <p:nvPr/>
        </p:nvSpPr>
        <p:spPr>
          <a:xfrm>
            <a:off x="5016500" y="2247900"/>
            <a:ext cx="2032000" cy="1587500"/>
          </a:xfrm>
          <a:prstGeom prst="rect">
            <a:avLst/>
          </a:prstGeom>
          <a:solidFill>
            <a:srgbClr val="FBEAEC"/>
          </a:solidFill>
          <a:ln w="15240">
            <a:solidFill>
              <a:srgbClr val="ED1B2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1ED60F3-919A-C30A-F0DD-0E826434D455}"/>
              </a:ext>
            </a:extLst>
          </p:cNvPr>
          <p:cNvSpPr txBox="1"/>
          <p:nvPr/>
        </p:nvSpPr>
        <p:spPr>
          <a:xfrm>
            <a:off x="5118100" y="2413000"/>
            <a:ext cx="1828800" cy="254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900" b="1">
                <a:solidFill>
                  <a:srgbClr val="6E7D88"/>
                </a:solidFill>
                <a:latin typeface="Arial" panose="020B0604020202020204" pitchFamily="34" charset="0"/>
              </a:rPr>
              <a:t>WEITERGABE</a:t>
            </a:r>
            <a:endParaRPr lang="de-DE" sz="90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40F799F-371B-EDCC-2CFB-DAB41121DAD2}"/>
              </a:ext>
            </a:extLst>
          </p:cNvPr>
          <p:cNvSpPr txBox="1"/>
          <p:nvPr/>
        </p:nvSpPr>
        <p:spPr>
          <a:xfrm>
            <a:off x="5168900" y="2844800"/>
            <a:ext cx="1727200" cy="9652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500" b="1">
                <a:solidFill>
                  <a:srgbClr val="282D32"/>
                </a:solidFill>
                <a:latin typeface="Arial" panose="020B0604020202020204" pitchFamily="34" charset="0"/>
              </a:rPr>
              <a:t>Warten
veralteter Zustand
Ausnahme</a:t>
            </a:r>
            <a:endParaRPr lang="de-DE" sz="15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6" name="Chain_SYSTEMFOLGE">
            <a:extLst>
              <a:ext uri="{FF2B5EF4-FFF2-40B4-BE49-F238E27FC236}">
                <a16:creationId xmlns:a16="http://schemas.microsoft.com/office/drawing/2014/main" id="{21C49FEC-E40F-5246-D51F-2F877C80B83C}"/>
              </a:ext>
            </a:extLst>
          </p:cNvPr>
          <p:cNvSpPr/>
          <p:nvPr/>
        </p:nvSpPr>
        <p:spPr>
          <a:xfrm>
            <a:off x="7302500" y="2247900"/>
            <a:ext cx="2032000" cy="1587500"/>
          </a:xfrm>
          <a:prstGeom prst="rect">
            <a:avLst/>
          </a:prstGeom>
          <a:solidFill>
            <a:srgbClr val="FBEAEC"/>
          </a:solidFill>
          <a:ln w="15240">
            <a:solidFill>
              <a:srgbClr val="ED1B2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E7B8B0F-FB3A-2220-9DBF-DFAB20A0930B}"/>
              </a:ext>
            </a:extLst>
          </p:cNvPr>
          <p:cNvSpPr txBox="1"/>
          <p:nvPr/>
        </p:nvSpPr>
        <p:spPr>
          <a:xfrm>
            <a:off x="7404100" y="2413000"/>
            <a:ext cx="1828800" cy="254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900" b="1">
                <a:solidFill>
                  <a:srgbClr val="6E7D88"/>
                </a:solidFill>
                <a:latin typeface="Arial" panose="020B0604020202020204" pitchFamily="34" charset="0"/>
              </a:rPr>
              <a:t>SYSTEMFOLGE</a:t>
            </a:r>
            <a:endParaRPr lang="de-DE" sz="90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28D113D-99A0-85E1-C0DF-93A28EDBECD4}"/>
              </a:ext>
            </a:extLst>
          </p:cNvPr>
          <p:cNvSpPr txBox="1"/>
          <p:nvPr/>
        </p:nvSpPr>
        <p:spPr>
          <a:xfrm>
            <a:off x="7454900" y="2844800"/>
            <a:ext cx="1727200" cy="9652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500" b="1">
                <a:solidFill>
                  <a:srgbClr val="282D32"/>
                </a:solidFill>
                <a:latin typeface="Arial" panose="020B0604020202020204" pitchFamily="34" charset="0"/>
              </a:rPr>
              <a:t>Pipeline
steht</a:t>
            </a:r>
            <a:endParaRPr lang="de-DE" sz="15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19" name="Chain_SCHUTZSCHICHT">
            <a:extLst>
              <a:ext uri="{FF2B5EF4-FFF2-40B4-BE49-F238E27FC236}">
                <a16:creationId xmlns:a16="http://schemas.microsoft.com/office/drawing/2014/main" id="{D7980050-E684-0AB5-99FD-DC66D5C7107D}"/>
              </a:ext>
            </a:extLst>
          </p:cNvPr>
          <p:cNvSpPr/>
          <p:nvPr/>
        </p:nvSpPr>
        <p:spPr>
          <a:xfrm>
            <a:off x="9588500" y="2247900"/>
            <a:ext cx="2032000" cy="1587500"/>
          </a:xfrm>
          <a:prstGeom prst="rect">
            <a:avLst/>
          </a:prstGeom>
          <a:solidFill>
            <a:srgbClr val="EEF3F7"/>
          </a:solidFill>
          <a:ln w="15240">
            <a:solidFill>
              <a:srgbClr val="274A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647FAF2-03F7-103C-FCA0-5CD0966C9ED5}"/>
              </a:ext>
            </a:extLst>
          </p:cNvPr>
          <p:cNvSpPr txBox="1"/>
          <p:nvPr/>
        </p:nvSpPr>
        <p:spPr>
          <a:xfrm>
            <a:off x="9690100" y="2413000"/>
            <a:ext cx="1828800" cy="254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900" b="1">
                <a:solidFill>
                  <a:srgbClr val="6E7D88"/>
                </a:solidFill>
                <a:latin typeface="Arial" panose="020B0604020202020204" pitchFamily="34" charset="0"/>
              </a:rPr>
              <a:t>SCHUTZSCHICHT</a:t>
            </a:r>
            <a:endParaRPr lang="de-DE" sz="900" b="1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5ED74E0-BA93-9C57-1E14-07D248753901}"/>
              </a:ext>
            </a:extLst>
          </p:cNvPr>
          <p:cNvSpPr txBox="1"/>
          <p:nvPr/>
        </p:nvSpPr>
        <p:spPr>
          <a:xfrm>
            <a:off x="9740900" y="2844800"/>
            <a:ext cx="1727200" cy="9652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500" b="1">
                <a:solidFill>
                  <a:srgbClr val="282D32"/>
                </a:solidFill>
                <a:latin typeface="Arial" panose="020B0604020202020204" pitchFamily="34" charset="0"/>
              </a:rPr>
              <a:t>erkennen
entkoppeln
weiterarbeiten</a:t>
            </a:r>
            <a:endParaRPr lang="de-DE" sz="15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742545C-9925-6D2F-7E13-12EA11023020}"/>
              </a:ext>
            </a:extLst>
          </p:cNvPr>
          <p:cNvCxnSpPr/>
          <p:nvPr/>
        </p:nvCxnSpPr>
        <p:spPr>
          <a:xfrm>
            <a:off x="2476500" y="3048000"/>
            <a:ext cx="152400" cy="0"/>
          </a:xfrm>
          <a:prstGeom prst="straightConnector1">
            <a:avLst/>
          </a:prstGeom>
          <a:ln w="15240">
            <a:solidFill>
              <a:srgbClr val="274A6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84B14C2-6082-46B7-39E4-6702781E7144}"/>
              </a:ext>
            </a:extLst>
          </p:cNvPr>
          <p:cNvCxnSpPr/>
          <p:nvPr/>
        </p:nvCxnSpPr>
        <p:spPr>
          <a:xfrm>
            <a:off x="4762500" y="3048000"/>
            <a:ext cx="152400" cy="0"/>
          </a:xfrm>
          <a:prstGeom prst="straightConnector1">
            <a:avLst/>
          </a:prstGeom>
          <a:ln w="15240">
            <a:solidFill>
              <a:srgbClr val="274A6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87878A1-3B85-701E-8912-DD735DC6BF57}"/>
              </a:ext>
            </a:extLst>
          </p:cNvPr>
          <p:cNvCxnSpPr/>
          <p:nvPr/>
        </p:nvCxnSpPr>
        <p:spPr>
          <a:xfrm>
            <a:off x="7048500" y="3048000"/>
            <a:ext cx="152400" cy="0"/>
          </a:xfrm>
          <a:prstGeom prst="straightConnector1">
            <a:avLst/>
          </a:prstGeom>
          <a:ln w="15240">
            <a:solidFill>
              <a:srgbClr val="274A6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F89B4B9-06A3-2131-A685-5C34FA758419}"/>
              </a:ext>
            </a:extLst>
          </p:cNvPr>
          <p:cNvCxnSpPr/>
          <p:nvPr/>
        </p:nvCxnSpPr>
        <p:spPr>
          <a:xfrm>
            <a:off x="9334500" y="3048000"/>
            <a:ext cx="152400" cy="0"/>
          </a:xfrm>
          <a:prstGeom prst="straightConnector1">
            <a:avLst/>
          </a:prstGeom>
          <a:ln w="15240">
            <a:solidFill>
              <a:srgbClr val="274A6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CA3BAB0F-DBA6-4B34-BEF6-3AB9BCE29363}"/>
              </a:ext>
            </a:extLst>
          </p:cNvPr>
          <p:cNvCxnSpPr/>
          <p:nvPr/>
        </p:nvCxnSpPr>
        <p:spPr>
          <a:xfrm>
            <a:off x="444500" y="4483100"/>
            <a:ext cx="1127760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63C17E37-8DB2-0B2F-2313-14F45DC41CE5}"/>
              </a:ext>
            </a:extLst>
          </p:cNvPr>
          <p:cNvSpPr txBox="1"/>
          <p:nvPr/>
        </p:nvSpPr>
        <p:spPr>
          <a:xfrm>
            <a:off x="444500" y="4699000"/>
            <a:ext cx="1587500" cy="254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>
              <a:buClr>
                <a:schemeClr val="accent1"/>
              </a:buClr>
            </a:pPr>
            <a:r>
              <a:rPr lang="de-DE" sz="950" b="1">
                <a:solidFill>
                  <a:srgbClr val="ED1B24"/>
                </a:solidFill>
                <a:latin typeface="Arial" panose="020B0604020202020204" pitchFamily="34" charset="0"/>
              </a:rPr>
              <a:t>ANTWORT</a:t>
            </a:r>
            <a:endParaRPr lang="de-DE" sz="950" b="1" dirty="0" err="1">
              <a:solidFill>
                <a:srgbClr val="ED1B24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52CF285-973E-D07C-1478-498DE10DCF36}"/>
              </a:ext>
            </a:extLst>
          </p:cNvPr>
          <p:cNvSpPr txBox="1"/>
          <p:nvPr/>
        </p:nvSpPr>
        <p:spPr>
          <a:xfrm>
            <a:off x="2159000" y="4635500"/>
            <a:ext cx="9398000" cy="6096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700" b="1">
                <a:solidFill>
                  <a:srgbClr val="282D32"/>
                </a:solidFill>
                <a:latin typeface="Arial" panose="020B0604020202020204" pitchFamily="34" charset="0"/>
              </a:rPr>
              <a:t>Normalbetrieb stabil; Fehlerfall braucht Schutzschichten aus Sichtbarkeit, Timeout, Retry und kontrollierter Degradation.</a:t>
            </a:r>
            <a:endParaRPr lang="de-DE" sz="17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A10991B-5A5B-AC55-6905-748F067B645D}"/>
              </a:ext>
            </a:extLst>
          </p:cNvPr>
          <p:cNvSpPr txBox="1"/>
          <p:nvPr/>
        </p:nvSpPr>
        <p:spPr>
          <a:xfrm>
            <a:off x="444500" y="5524500"/>
            <a:ext cx="112776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100">
                <a:solidFill>
                  <a:srgbClr val="6E7D88"/>
                </a:solidFill>
                <a:latin typeface="Arial" panose="020B0604020202020204" pitchFamily="34" charset="0"/>
              </a:rPr>
              <a:t>C5 grenzt die Synthese ein: Die konkrete Race-Hypothese wurde im Test nicht bestätigt.</a:t>
            </a:r>
            <a:endParaRPr lang="de-DE" sz="1100" dirty="0" err="1">
              <a:solidFill>
                <a:srgbClr val="6E7D88"/>
              </a:solidFill>
              <a:latin typeface="Arial" panose="020B0604020202020204" pitchFamily="34" charset="0"/>
            </a:endParaRPr>
          </a:p>
        </p:txBody>
      </p:sp>
      <p:sp>
        <p:nvSpPr>
          <p:cNvPr id="30" name="Datumsplatzhalter 29">
            <a:extLst>
              <a:ext uri="{FF2B5EF4-FFF2-40B4-BE49-F238E27FC236}">
                <a16:creationId xmlns:a16="http://schemas.microsoft.com/office/drawing/2014/main" id="{9661D9DD-C17A-42B9-0804-132A0D88F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A823-754E-4C6F-9559-8DA04675EFB5}" type="datetime1">
              <a:rPr lang="de-DE" smtClean="0"/>
              <a:t>31.08.2026</a:t>
            </a:fld>
            <a:endParaRPr lang="de-DE"/>
          </a:p>
        </p:txBody>
      </p:sp>
      <p:sp>
        <p:nvSpPr>
          <p:cNvPr id="31" name="Fußzeilenplatzhalter 30">
            <a:extLst>
              <a:ext uri="{FF2B5EF4-FFF2-40B4-BE49-F238E27FC236}">
                <a16:creationId xmlns:a16="http://schemas.microsoft.com/office/drawing/2014/main" id="{107BEAB1-8A61-7C65-1108-1E74EE412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ROSI · Verfügbarkeit und Fehlertoleranz</a:t>
            </a:r>
          </a:p>
        </p:txBody>
      </p:sp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12EDA6D3-BC65-930C-7EAA-E1AF00A8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144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5D7FC6-37B4-5875-F999-A7929F170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2200">
                <a:solidFill>
                  <a:srgbClr val="282D32"/>
                </a:solidFill>
                <a:latin typeface="Arial" panose="020B0604020202020204" pitchFamily="34" charset="0"/>
              </a:rPr>
              <a:t>Handlungsempfehlungen für den Dauerbetrieb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259725-276B-1EDE-E280-E2655F40F1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/>
            <a:r>
              <a:rPr lang="de-DE" sz="800">
                <a:solidFill>
                  <a:srgbClr val="585E63"/>
                </a:solidFill>
                <a:latin typeface="Arial" panose="020B0604020202020204" pitchFamily="34" charset="0"/>
              </a:rPr>
              <a:t>Quelle: Eigene Handlungsempfehlungen, Kap. 6; Pont &amp; Ong (2002)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A052DE-8D08-6D90-A034-27876A031A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900" b="1">
                <a:solidFill>
                  <a:srgbClr val="6E7D88"/>
                </a:solidFill>
                <a:latin typeface="Arial" panose="020B0604020202020204" pitchFamily="34" charset="0"/>
              </a:rPr>
              <a:t>05 · ENTSCHEIDUNG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5E28CD4-CD36-E5A5-B84A-7369D52EA3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endParaRPr lang="de-DE" sz="1600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A3D8EFA-80BC-3373-B001-2FF341481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endParaRPr lang="de-DE" sz="1600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5EBB6C2-1A63-907D-F495-72B4DE1FBA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endParaRPr lang="de-DE" sz="1600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C7743C8-61E9-12CA-B08C-5B8ED6C229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endParaRPr lang="de-DE" sz="1600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C15CDC64-1F75-6CA6-47D9-ECE215C3A089}"/>
              </a:ext>
            </a:extLst>
          </p:cNvPr>
          <p:cNvCxnSpPr/>
          <p:nvPr/>
        </p:nvCxnSpPr>
        <p:spPr>
          <a:xfrm>
            <a:off x="359410" y="1060450"/>
            <a:ext cx="1145159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6F4358D-3F97-46FC-BDA3-BCFEE27D2EF3}"/>
              </a:ext>
            </a:extLst>
          </p:cNvPr>
          <p:cNvCxnSpPr/>
          <p:nvPr/>
        </p:nvCxnSpPr>
        <p:spPr>
          <a:xfrm>
            <a:off x="444500" y="1422400"/>
            <a:ext cx="2222500" cy="0"/>
          </a:xfrm>
          <a:prstGeom prst="straightConnector1">
            <a:avLst/>
          </a:prstGeom>
          <a:ln w="2540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8D396D89-8F20-7C31-DA64-4E72E92A6380}"/>
              </a:ext>
            </a:extLst>
          </p:cNvPr>
          <p:cNvSpPr txBox="1"/>
          <p:nvPr/>
        </p:nvSpPr>
        <p:spPr>
          <a:xfrm>
            <a:off x="444500" y="1587500"/>
            <a:ext cx="22225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200" b="1">
                <a:solidFill>
                  <a:srgbClr val="ED1B24"/>
                </a:solidFill>
                <a:latin typeface="Arial" panose="020B0604020202020204" pitchFamily="34" charset="0"/>
              </a:rPr>
              <a:t>ERKENNEN</a:t>
            </a:r>
            <a:endParaRPr lang="de-DE" sz="1200" b="1" dirty="0" err="1">
              <a:solidFill>
                <a:srgbClr val="ED1B24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749A13A-CD4F-BFA9-F9FD-0D4764CBEA5D}"/>
              </a:ext>
            </a:extLst>
          </p:cNvPr>
          <p:cNvSpPr txBox="1"/>
          <p:nvPr/>
        </p:nvSpPr>
        <p:spPr>
          <a:xfrm>
            <a:off x="508000" y="2159000"/>
            <a:ext cx="2095500" cy="1397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300" b="1">
                <a:solidFill>
                  <a:srgbClr val="282D32"/>
                </a:solidFill>
                <a:latin typeface="Arial" panose="020B0604020202020204" pitchFamily="34" charset="0"/>
              </a:rPr>
              <a:t>Alle vier Services überwachen.
Supervisor / systemd</a:t>
            </a:r>
            <a:endParaRPr lang="de-DE" sz="1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C3063FE3-60F3-FA79-50F9-15992AE07A96}"/>
              </a:ext>
            </a:extLst>
          </p:cNvPr>
          <p:cNvCxnSpPr/>
          <p:nvPr/>
        </p:nvCxnSpPr>
        <p:spPr>
          <a:xfrm>
            <a:off x="2984500" y="1460500"/>
            <a:ext cx="0" cy="2730500"/>
          </a:xfrm>
          <a:prstGeom prst="straightConnector1">
            <a:avLst/>
          </a:prstGeom>
          <a:ln w="12700">
            <a:solidFill>
              <a:srgbClr val="D7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4052E0B-0B8A-3FE8-0B2F-BC1BE98C5B52}"/>
              </a:ext>
            </a:extLst>
          </p:cNvPr>
          <p:cNvCxnSpPr/>
          <p:nvPr/>
        </p:nvCxnSpPr>
        <p:spPr>
          <a:xfrm>
            <a:off x="3238500" y="1422400"/>
            <a:ext cx="2222500" cy="0"/>
          </a:xfrm>
          <a:prstGeom prst="straightConnector1">
            <a:avLst/>
          </a:prstGeom>
          <a:ln w="25400">
            <a:solidFill>
              <a:srgbClr val="274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5045A792-5CD2-FC2A-40BD-2DCEB7BEF15B}"/>
              </a:ext>
            </a:extLst>
          </p:cNvPr>
          <p:cNvSpPr txBox="1"/>
          <p:nvPr/>
        </p:nvSpPr>
        <p:spPr>
          <a:xfrm>
            <a:off x="3238500" y="1587500"/>
            <a:ext cx="22225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200" b="1">
                <a:solidFill>
                  <a:srgbClr val="274A63"/>
                </a:solidFill>
                <a:latin typeface="Arial" panose="020B0604020202020204" pitchFamily="34" charset="0"/>
              </a:rPr>
              <a:t>BEGRENZEN</a:t>
            </a:r>
            <a:endParaRPr lang="de-DE" sz="1200" b="1" dirty="0" err="1">
              <a:solidFill>
                <a:srgbClr val="274A63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065061A-74EE-0D8E-A5C5-AFFBAFBC8EAC}"/>
              </a:ext>
            </a:extLst>
          </p:cNvPr>
          <p:cNvSpPr txBox="1"/>
          <p:nvPr/>
        </p:nvSpPr>
        <p:spPr>
          <a:xfrm>
            <a:off x="3302000" y="2159000"/>
            <a:ext cx="2095500" cy="1397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300" b="1">
                <a:solidFill>
                  <a:srgbClr val="282D32"/>
                </a:solidFill>
                <a:latin typeface="Arial" panose="020B0604020202020204" pitchFamily="34" charset="0"/>
              </a:rPr>
              <a:t>RAM-Disk-Füllstand alarmieren.
Archivierung kontrolliert degradieren</a:t>
            </a:r>
            <a:endParaRPr lang="de-DE" sz="1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519667BB-0495-F776-3B21-6C2F093EBF9D}"/>
              </a:ext>
            </a:extLst>
          </p:cNvPr>
          <p:cNvCxnSpPr/>
          <p:nvPr/>
        </p:nvCxnSpPr>
        <p:spPr>
          <a:xfrm>
            <a:off x="5778500" y="1460500"/>
            <a:ext cx="0" cy="2730500"/>
          </a:xfrm>
          <a:prstGeom prst="straightConnector1">
            <a:avLst/>
          </a:prstGeom>
          <a:ln w="12700">
            <a:solidFill>
              <a:srgbClr val="D7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E21F504B-6221-68FC-D55F-A86350C64928}"/>
              </a:ext>
            </a:extLst>
          </p:cNvPr>
          <p:cNvCxnSpPr/>
          <p:nvPr/>
        </p:nvCxnSpPr>
        <p:spPr>
          <a:xfrm>
            <a:off x="6032500" y="1422400"/>
            <a:ext cx="2222500" cy="0"/>
          </a:xfrm>
          <a:prstGeom prst="straightConnector1">
            <a:avLst/>
          </a:prstGeom>
          <a:ln w="25400">
            <a:solidFill>
              <a:srgbClr val="274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5CB8A0CE-4F9C-9C04-26C9-F308274C9DC2}"/>
              </a:ext>
            </a:extLst>
          </p:cNvPr>
          <p:cNvSpPr txBox="1"/>
          <p:nvPr/>
        </p:nvSpPr>
        <p:spPr>
          <a:xfrm>
            <a:off x="6032500" y="1587500"/>
            <a:ext cx="22225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200" b="1">
                <a:solidFill>
                  <a:srgbClr val="274A63"/>
                </a:solidFill>
                <a:latin typeface="Arial" panose="020B0604020202020204" pitchFamily="34" charset="0"/>
              </a:rPr>
              <a:t>ENTKOPPELN</a:t>
            </a:r>
            <a:endParaRPr lang="de-DE" sz="1200" b="1" dirty="0" err="1">
              <a:solidFill>
                <a:srgbClr val="274A63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E5D9586-4B35-16F0-3DC0-EBB76624BEA8}"/>
              </a:ext>
            </a:extLst>
          </p:cNvPr>
          <p:cNvSpPr txBox="1"/>
          <p:nvPr/>
        </p:nvSpPr>
        <p:spPr>
          <a:xfrm>
            <a:off x="6096000" y="2159000"/>
            <a:ext cx="2095500" cy="1397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300" b="1">
                <a:solidFill>
                  <a:srgbClr val="282D32"/>
                </a:solidFill>
                <a:latin typeface="Arial" panose="020B0604020202020204" pitchFamily="34" charset="0"/>
              </a:rPr>
              <a:t>Logging mit Timeout + Drop-on-Full.
Inspektion weiterführen</a:t>
            </a:r>
            <a:endParaRPr lang="de-DE" sz="1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3A041D9-B78B-88E7-C08C-0C94AFE82782}"/>
              </a:ext>
            </a:extLst>
          </p:cNvPr>
          <p:cNvCxnSpPr/>
          <p:nvPr/>
        </p:nvCxnSpPr>
        <p:spPr>
          <a:xfrm>
            <a:off x="8572500" y="1460500"/>
            <a:ext cx="0" cy="2730500"/>
          </a:xfrm>
          <a:prstGeom prst="straightConnector1">
            <a:avLst/>
          </a:prstGeom>
          <a:ln w="12700">
            <a:solidFill>
              <a:srgbClr val="D7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DB74D224-2A74-9344-653C-01530293E3FA}"/>
              </a:ext>
            </a:extLst>
          </p:cNvPr>
          <p:cNvCxnSpPr/>
          <p:nvPr/>
        </p:nvCxnSpPr>
        <p:spPr>
          <a:xfrm>
            <a:off x="8826500" y="1422400"/>
            <a:ext cx="2222500" cy="0"/>
          </a:xfrm>
          <a:prstGeom prst="straightConnector1">
            <a:avLst/>
          </a:prstGeom>
          <a:ln w="25400">
            <a:solidFill>
              <a:srgbClr val="274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40584631-6E44-7BE3-94D3-181E18069FEF}"/>
              </a:ext>
            </a:extLst>
          </p:cNvPr>
          <p:cNvSpPr txBox="1"/>
          <p:nvPr/>
        </p:nvSpPr>
        <p:spPr>
          <a:xfrm>
            <a:off x="8826500" y="1587500"/>
            <a:ext cx="22225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200" b="1">
                <a:solidFill>
                  <a:srgbClr val="274A63"/>
                </a:solidFill>
                <a:latin typeface="Arial" panose="020B0604020202020204" pitchFamily="34" charset="0"/>
              </a:rPr>
              <a:t>ERNEUERN</a:t>
            </a:r>
            <a:endParaRPr lang="de-DE" sz="1200" b="1" dirty="0" err="1">
              <a:solidFill>
                <a:srgbClr val="274A63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F54E34B-F41C-3206-DE22-89A69EF67753}"/>
              </a:ext>
            </a:extLst>
          </p:cNvPr>
          <p:cNvSpPr txBox="1"/>
          <p:nvPr/>
        </p:nvSpPr>
        <p:spPr>
          <a:xfrm>
            <a:off x="8890000" y="2159000"/>
            <a:ext cx="2095500" cy="1397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300" b="1">
                <a:solidFill>
                  <a:srgbClr val="282D32"/>
                </a:solidFill>
                <a:latin typeface="Arial" panose="020B0604020202020204" pitchFamily="34" charset="0"/>
              </a:rPr>
              <a:t>close_old_connections().
Schreibzugriff kontrolliert wiederholen</a:t>
            </a:r>
            <a:endParaRPr lang="de-DE" sz="1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53543ED-3B53-ECF9-C499-3A8BBC44A821}"/>
              </a:ext>
            </a:extLst>
          </p:cNvPr>
          <p:cNvCxnSpPr/>
          <p:nvPr/>
        </p:nvCxnSpPr>
        <p:spPr>
          <a:xfrm>
            <a:off x="444500" y="4292600"/>
            <a:ext cx="11277600" cy="0"/>
          </a:xfrm>
          <a:prstGeom prst="straightConnector1">
            <a:avLst/>
          </a:prstGeom>
          <a:ln w="12700">
            <a:solidFill>
              <a:srgbClr val="D7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0BF8FF0A-A20C-F24D-B65F-6D0734CB793C}"/>
              </a:ext>
            </a:extLst>
          </p:cNvPr>
          <p:cNvSpPr txBox="1"/>
          <p:nvPr/>
        </p:nvSpPr>
        <p:spPr>
          <a:xfrm>
            <a:off x="444500" y="4546600"/>
            <a:ext cx="11277600" cy="635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500" b="1">
                <a:solidFill>
                  <a:srgbClr val="282D32"/>
                </a:solidFill>
                <a:latin typeface="Arial" panose="020B0604020202020204" pitchFamily="34" charset="0"/>
              </a:rPr>
              <a:t>C5 erhält bewusst keinen Sofortfix: Die konkrete Race-Hypothese wurde im getesteten Aufbau nicht bestätigt.</a:t>
            </a:r>
            <a:endParaRPr lang="de-DE" sz="15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sp>
        <p:nvSpPr>
          <p:cNvPr id="27" name="Datumsplatzhalter 26">
            <a:extLst>
              <a:ext uri="{FF2B5EF4-FFF2-40B4-BE49-F238E27FC236}">
                <a16:creationId xmlns:a16="http://schemas.microsoft.com/office/drawing/2014/main" id="{B79B3360-4EE5-2941-835C-7DA354839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94A9-CE25-4C6F-84FF-55ACE7CA12DB}" type="datetime1">
              <a:rPr lang="de-DE" smtClean="0"/>
              <a:t>31.08.2026</a:t>
            </a:fld>
            <a:endParaRPr lang="de-DE"/>
          </a:p>
        </p:txBody>
      </p:sp>
      <p:sp>
        <p:nvSpPr>
          <p:cNvPr id="28" name="Fußzeilenplatzhalter 27">
            <a:extLst>
              <a:ext uri="{FF2B5EF4-FFF2-40B4-BE49-F238E27FC236}">
                <a16:creationId xmlns:a16="http://schemas.microsoft.com/office/drawing/2014/main" id="{16D04B14-E5B1-18CE-E2E6-9D64FB688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ROSI · Verfügbarkeit und Fehlertoleranz</a:t>
            </a:r>
          </a:p>
        </p:txBody>
      </p:sp>
      <p:sp>
        <p:nvSpPr>
          <p:cNvPr id="29" name="Foliennummernplatzhalter 28">
            <a:extLst>
              <a:ext uri="{FF2B5EF4-FFF2-40B4-BE49-F238E27FC236}">
                <a16:creationId xmlns:a16="http://schemas.microsoft.com/office/drawing/2014/main" id="{3897923F-2C75-D4D0-961F-920C9AE2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1363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D7481D-13AB-94A8-17F9-6C0B36BB9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2200">
                <a:solidFill>
                  <a:srgbClr val="282D32"/>
                </a:solidFill>
                <a:latin typeface="Arial" panose="020B0604020202020204" pitchFamily="34" charset="0"/>
              </a:rPr>
              <a:t>Evidenzgrenzen und Produktionstransfer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F6798C-1888-1978-A209-685E34AF80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/>
            <a:r>
              <a:rPr lang="de-DE" sz="800">
                <a:solidFill>
                  <a:srgbClr val="585E63"/>
                </a:solidFill>
                <a:latin typeface="Arial" panose="020B0604020202020204" pitchFamily="34" charset="0"/>
              </a:rPr>
              <a:t>Quelle: Eigene Ausarbeitung, Kap. 4.5; Methodenkritik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076F22-63E9-69FC-0AF4-48FC77B84B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900" b="1">
                <a:solidFill>
                  <a:srgbClr val="6E7D88"/>
                </a:solidFill>
                <a:latin typeface="Arial" panose="020B0604020202020204" pitchFamily="34" charset="0"/>
              </a:rPr>
              <a:t>06 · GRENZEN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A7C1A4A-41E3-2BCD-180A-5FA3549415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endParaRPr lang="de-DE" sz="1600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CD28B20-44E0-6CC8-403F-2D63CADA80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endParaRPr lang="de-DE" sz="1600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15D4872-3344-208D-B6C0-82434661C6F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endParaRPr lang="de-DE" sz="1600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14ADC2C-4300-7B0D-D6A3-2F5545AD4D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wrap="square" lIns="6350" tIns="6350" rIns="6350" bIns="6350" anchor="t">
            <a:noAutofit/>
          </a:bodyPr>
          <a:lstStyle/>
          <a:p>
            <a:pPr marL="0" indent="0">
              <a:buNone/>
            </a:pPr>
            <a:endParaRPr lang="de-DE" sz="1600">
              <a:solidFill>
                <a:srgbClr val="585E63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9768181-97DD-CA31-F73C-BDDB465ED3ED}"/>
              </a:ext>
            </a:extLst>
          </p:cNvPr>
          <p:cNvCxnSpPr/>
          <p:nvPr/>
        </p:nvCxnSpPr>
        <p:spPr>
          <a:xfrm>
            <a:off x="359410" y="1060450"/>
            <a:ext cx="11451590" cy="0"/>
          </a:xfrm>
          <a:prstGeom prst="straightConnector1">
            <a:avLst/>
          </a:prstGeom>
          <a:ln w="1905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7739174A-225E-5B5C-6168-A6364D20A589}"/>
              </a:ext>
            </a:extLst>
          </p:cNvPr>
          <p:cNvCxnSpPr/>
          <p:nvPr/>
        </p:nvCxnSpPr>
        <p:spPr>
          <a:xfrm>
            <a:off x="444500" y="1422400"/>
            <a:ext cx="2222500" cy="0"/>
          </a:xfrm>
          <a:prstGeom prst="straightConnector1">
            <a:avLst/>
          </a:prstGeom>
          <a:ln w="25400">
            <a:solidFill>
              <a:srgbClr val="274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2F6C31F3-5ECB-F8CC-4FFE-D4F97A832EAE}"/>
              </a:ext>
            </a:extLst>
          </p:cNvPr>
          <p:cNvSpPr txBox="1"/>
          <p:nvPr/>
        </p:nvSpPr>
        <p:spPr>
          <a:xfrm>
            <a:off x="444500" y="1587500"/>
            <a:ext cx="22225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200" b="1">
                <a:solidFill>
                  <a:srgbClr val="274A63"/>
                </a:solidFill>
                <a:latin typeface="Arial" panose="020B0604020202020204" pitchFamily="34" charset="0"/>
              </a:rPr>
              <a:t>LABOR</a:t>
            </a:r>
            <a:endParaRPr lang="de-DE" sz="1200" b="1" dirty="0" err="1">
              <a:solidFill>
                <a:srgbClr val="274A63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2A9122A-1291-A414-22DD-7DDBD4BCF076}"/>
              </a:ext>
            </a:extLst>
          </p:cNvPr>
          <p:cNvSpPr txBox="1"/>
          <p:nvPr/>
        </p:nvSpPr>
        <p:spPr>
          <a:xfrm>
            <a:off x="508000" y="2159000"/>
            <a:ext cx="2095500" cy="1397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300" b="1">
                <a:solidFill>
                  <a:srgbClr val="282D32"/>
                </a:solidFill>
                <a:latin typeface="Arial" panose="020B0604020202020204" pitchFamily="34" charset="0"/>
              </a:rPr>
              <a:t>Referenzsystem + Simulator
Mechanismen wahrscheinlich übertragbar</a:t>
            </a:r>
            <a:endParaRPr lang="de-DE" sz="1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0B1D496B-8B0D-6556-0643-B3A139D9A6BD}"/>
              </a:ext>
            </a:extLst>
          </p:cNvPr>
          <p:cNvCxnSpPr/>
          <p:nvPr/>
        </p:nvCxnSpPr>
        <p:spPr>
          <a:xfrm>
            <a:off x="2984500" y="1460500"/>
            <a:ext cx="0" cy="2730500"/>
          </a:xfrm>
          <a:prstGeom prst="straightConnector1">
            <a:avLst/>
          </a:prstGeom>
          <a:ln w="12700">
            <a:solidFill>
              <a:srgbClr val="D7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9478759-7C70-CCD7-539A-A9E40150EB73}"/>
              </a:ext>
            </a:extLst>
          </p:cNvPr>
          <p:cNvCxnSpPr/>
          <p:nvPr/>
        </p:nvCxnSpPr>
        <p:spPr>
          <a:xfrm>
            <a:off x="3238500" y="1422400"/>
            <a:ext cx="2222500" cy="0"/>
          </a:xfrm>
          <a:prstGeom prst="straightConnector1">
            <a:avLst/>
          </a:prstGeom>
          <a:ln w="25400">
            <a:solidFill>
              <a:srgbClr val="274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1F98F293-1A2F-57B4-A274-9D04DDD457D1}"/>
              </a:ext>
            </a:extLst>
          </p:cNvPr>
          <p:cNvSpPr txBox="1"/>
          <p:nvPr/>
        </p:nvSpPr>
        <p:spPr>
          <a:xfrm>
            <a:off x="3238500" y="1587500"/>
            <a:ext cx="22225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200" b="1">
                <a:solidFill>
                  <a:srgbClr val="274A63"/>
                </a:solidFill>
                <a:latin typeface="Arial" panose="020B0604020202020204" pitchFamily="34" charset="0"/>
              </a:rPr>
              <a:t>ZEIT</a:t>
            </a:r>
            <a:endParaRPr lang="de-DE" sz="1200" b="1" dirty="0" err="1">
              <a:solidFill>
                <a:srgbClr val="274A63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20443D1-4283-56E6-821E-C63DD2C0343F}"/>
              </a:ext>
            </a:extLst>
          </p:cNvPr>
          <p:cNvSpPr txBox="1"/>
          <p:nvPr/>
        </p:nvSpPr>
        <p:spPr>
          <a:xfrm>
            <a:off x="3302000" y="2159000"/>
            <a:ext cx="2095500" cy="1397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300" b="1">
                <a:solidFill>
                  <a:srgbClr val="282D32"/>
                </a:solidFill>
                <a:latin typeface="Arial" panose="020B0604020202020204" pitchFamily="34" charset="0"/>
              </a:rPr>
              <a:t>20–120 s je Test
Langzeiteffekte hochgerechnet</a:t>
            </a:r>
            <a:endParaRPr lang="de-DE" sz="1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213BAF5-5035-FF28-0FE1-97BC572F192C}"/>
              </a:ext>
            </a:extLst>
          </p:cNvPr>
          <p:cNvCxnSpPr/>
          <p:nvPr/>
        </p:nvCxnSpPr>
        <p:spPr>
          <a:xfrm>
            <a:off x="5778500" y="1460500"/>
            <a:ext cx="0" cy="2730500"/>
          </a:xfrm>
          <a:prstGeom prst="straightConnector1">
            <a:avLst/>
          </a:prstGeom>
          <a:ln w="12700">
            <a:solidFill>
              <a:srgbClr val="D7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57E22FA-2E92-8BF9-A3F1-77FD969C7114}"/>
              </a:ext>
            </a:extLst>
          </p:cNvPr>
          <p:cNvCxnSpPr/>
          <p:nvPr/>
        </p:nvCxnSpPr>
        <p:spPr>
          <a:xfrm>
            <a:off x="6032500" y="1422400"/>
            <a:ext cx="2222500" cy="0"/>
          </a:xfrm>
          <a:prstGeom prst="straightConnector1">
            <a:avLst/>
          </a:prstGeom>
          <a:ln w="25400">
            <a:solidFill>
              <a:srgbClr val="274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EEDA1F5A-CE70-C9BD-0F1D-4AB0BEAA64E3}"/>
              </a:ext>
            </a:extLst>
          </p:cNvPr>
          <p:cNvSpPr txBox="1"/>
          <p:nvPr/>
        </p:nvSpPr>
        <p:spPr>
          <a:xfrm>
            <a:off x="6032500" y="1587500"/>
            <a:ext cx="22225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200" b="1">
                <a:solidFill>
                  <a:srgbClr val="274A63"/>
                </a:solidFill>
                <a:latin typeface="Arial" panose="020B0604020202020204" pitchFamily="34" charset="0"/>
              </a:rPr>
              <a:t>STICHPROBE</a:t>
            </a:r>
            <a:endParaRPr lang="de-DE" sz="1200" b="1" dirty="0" err="1">
              <a:solidFill>
                <a:srgbClr val="274A63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B6CF525-6CE3-8A51-C1DE-3346545BE54E}"/>
              </a:ext>
            </a:extLst>
          </p:cNvPr>
          <p:cNvSpPr txBox="1"/>
          <p:nvPr/>
        </p:nvSpPr>
        <p:spPr>
          <a:xfrm>
            <a:off x="6096000" y="2159000"/>
            <a:ext cx="2095500" cy="1397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300" b="1">
                <a:solidFill>
                  <a:srgbClr val="282D32"/>
                </a:solidFill>
                <a:latin typeface="Arial" panose="020B0604020202020204" pitchFamily="34" charset="0"/>
              </a:rPr>
              <a:t>Einzelmessungen
keine Statistik</a:t>
            </a:r>
            <a:endParaRPr lang="de-DE" sz="1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1B1C0CE-389C-1228-0E07-B55BA7B9C268}"/>
              </a:ext>
            </a:extLst>
          </p:cNvPr>
          <p:cNvCxnSpPr/>
          <p:nvPr/>
        </p:nvCxnSpPr>
        <p:spPr>
          <a:xfrm>
            <a:off x="8572500" y="1460500"/>
            <a:ext cx="0" cy="2730500"/>
          </a:xfrm>
          <a:prstGeom prst="straightConnector1">
            <a:avLst/>
          </a:prstGeom>
          <a:ln w="12700">
            <a:solidFill>
              <a:srgbClr val="D7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30AF33D-DD5F-6F96-9E0A-9A496BA163EE}"/>
              </a:ext>
            </a:extLst>
          </p:cNvPr>
          <p:cNvCxnSpPr/>
          <p:nvPr/>
        </p:nvCxnSpPr>
        <p:spPr>
          <a:xfrm>
            <a:off x="8826500" y="1422400"/>
            <a:ext cx="2222500" cy="0"/>
          </a:xfrm>
          <a:prstGeom prst="straightConnector1">
            <a:avLst/>
          </a:prstGeom>
          <a:ln w="2540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FE8CFB7F-46C7-F9A0-E47B-F970C31BF7B6}"/>
              </a:ext>
            </a:extLst>
          </p:cNvPr>
          <p:cNvSpPr txBox="1"/>
          <p:nvPr/>
        </p:nvSpPr>
        <p:spPr>
          <a:xfrm>
            <a:off x="8826500" y="1587500"/>
            <a:ext cx="2222500" cy="2794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200" b="1">
                <a:solidFill>
                  <a:srgbClr val="ED1B24"/>
                </a:solidFill>
                <a:latin typeface="Arial" panose="020B0604020202020204" pitchFamily="34" charset="0"/>
              </a:rPr>
              <a:t>TRANSFER</a:t>
            </a:r>
            <a:endParaRPr lang="de-DE" sz="1200" b="1" dirty="0" err="1">
              <a:solidFill>
                <a:srgbClr val="ED1B24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E060870-850F-357D-968B-B2FB944E183E}"/>
              </a:ext>
            </a:extLst>
          </p:cNvPr>
          <p:cNvSpPr txBox="1"/>
          <p:nvPr/>
        </p:nvSpPr>
        <p:spPr>
          <a:xfrm>
            <a:off x="8890000" y="2159000"/>
            <a:ext cx="2095500" cy="1397000"/>
          </a:xfrm>
          <a:prstGeom prst="rect">
            <a:avLst/>
          </a:prstGeom>
          <a:noFill/>
        </p:spPr>
        <p:txBody>
          <a:bodyPr vert="horz" wrap="square" lIns="10160" tIns="10160" rIns="10160" bIns="10160" rtlCol="0" anchor="t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sz="1300" b="1">
                <a:solidFill>
                  <a:srgbClr val="282D32"/>
                </a:solidFill>
                <a:latin typeface="Arial" panose="020B0604020202020204" pitchFamily="34" charset="0"/>
              </a:rPr>
              <a:t>C4 analytisch
Produktionskonfiguration offen</a:t>
            </a:r>
            <a:endParaRPr lang="de-DE" sz="1300" b="1" dirty="0" err="1">
              <a:solidFill>
                <a:srgbClr val="282D32"/>
              </a:solidFill>
              <a:latin typeface="Arial" panose="020B0604020202020204" pitchFamily="34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2D3355A4-D672-9142-4658-FE36485AD109}"/>
              </a:ext>
            </a:extLst>
          </p:cNvPr>
          <p:cNvCxnSpPr/>
          <p:nvPr/>
        </p:nvCxnSpPr>
        <p:spPr>
          <a:xfrm>
            <a:off x="444500" y="4292600"/>
            <a:ext cx="11277600" cy="0"/>
          </a:xfrm>
          <a:prstGeom prst="straightConnector1">
            <a:avLst/>
          </a:prstGeom>
          <a:ln w="16510">
            <a:solidFill>
              <a:srgbClr val="ED1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atumsplatzhalter 25">
            <a:extLst>
              <a:ext uri="{FF2B5EF4-FFF2-40B4-BE49-F238E27FC236}">
                <a16:creationId xmlns:a16="http://schemas.microsoft.com/office/drawing/2014/main" id="{157F0355-E6FE-6828-F499-2764DDC22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C8D-EE85-4493-ABD0-959E5477744F}" type="datetime1">
              <a:rPr lang="de-DE" smtClean="0"/>
              <a:t>31.08.2026</a:t>
            </a:fld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8C3FD8A9-0286-BDF0-E203-77948C6B6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ROSI · Verfügbarkeit und Fehlertoleranz</a:t>
            </a:r>
          </a:p>
        </p:txBody>
      </p:sp>
      <p:sp>
        <p:nvSpPr>
          <p:cNvPr id="28" name="Foliennummernplatzhalter 27">
            <a:extLst>
              <a:ext uri="{FF2B5EF4-FFF2-40B4-BE49-F238E27FC236}">
                <a16:creationId xmlns:a16="http://schemas.microsoft.com/office/drawing/2014/main" id="{CBF42D8C-6A5C-9096-79A9-418EBBDA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D312-FDB0-4E03-B7B2-2FF3AD852D4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6321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6A7D6F7-FBFB-D5C9-1AE2-569DE95DBC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1800" b="1">
                <a:solidFill>
                  <a:srgbClr val="282D32"/>
                </a:solidFill>
                <a:latin typeface="Arial" panose="020B0604020202020204" pitchFamily="34" charset="0"/>
              </a:rPr>
              <a:t>Fazit und Diskussion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61E4C3-1AD8-FD84-AC0B-543DD2BB76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lIns="6350" tIns="6350" rIns="6350" bIns="6350" anchor="t">
            <a:noAutofit/>
          </a:bodyPr>
          <a:lstStyle/>
          <a:p>
            <a:r>
              <a:rPr lang="de-DE" sz="1050">
                <a:solidFill>
                  <a:srgbClr val="585E63"/>
                </a:solidFill>
                <a:latin typeface="Arial" panose="020B0604020202020204" pitchFamily="34" charset="0"/>
              </a:rPr>
              <a:t>Vielen Dank · Fragen?</a:t>
            </a:r>
          </a:p>
        </p:txBody>
      </p:sp>
    </p:spTree>
    <p:extLst>
      <p:ext uri="{BB962C8B-B14F-4D97-AF65-F5344CB8AC3E}">
        <p14:creationId xmlns:p14="http://schemas.microsoft.com/office/powerpoint/2010/main" val="582419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renzebach Master">
  <a:themeElements>
    <a:clrScheme name="Grenzebach">
      <a:dk1>
        <a:srgbClr val="282D32"/>
      </a:dk1>
      <a:lt1>
        <a:sysClr val="window" lastClr="FFFFFF"/>
      </a:lt1>
      <a:dk2>
        <a:srgbClr val="585E63"/>
      </a:dk2>
      <a:lt2>
        <a:srgbClr val="A0A0A0"/>
      </a:lt2>
      <a:accent1>
        <a:srgbClr val="ED1B24"/>
      </a:accent1>
      <a:accent2>
        <a:srgbClr val="91A5B8"/>
      </a:accent2>
      <a:accent3>
        <a:srgbClr val="37908C"/>
      </a:accent3>
      <a:accent4>
        <a:srgbClr val="1762BF"/>
      </a:accent4>
      <a:accent5>
        <a:srgbClr val="7864FF"/>
      </a:accent5>
      <a:accent6>
        <a:srgbClr val="5DD1E1"/>
      </a:accent6>
      <a:hlink>
        <a:srgbClr val="A0A0A0"/>
      </a:hlink>
      <a:folHlink>
        <a:srgbClr val="A0A0A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tx2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180000" indent="-180000" algn="l">
          <a:buClr>
            <a:schemeClr val="accent1"/>
          </a:buClr>
          <a:buFont typeface="Arial" panose="020B0604020202020204" pitchFamily="34" charset="0"/>
          <a:buChar char="»"/>
          <a:defRPr sz="1600" dirty="0">
            <a:solidFill>
              <a:schemeClr val="tx2"/>
            </a:solidFill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noAutofit/>
      </a:bodyPr>
      <a:lstStyle>
        <a:defPPr marL="180000" indent="-180000" algn="l">
          <a:buClr>
            <a:schemeClr val="accent1"/>
          </a:buClr>
          <a:buFont typeface="Arial" panose="020B0604020202020204" pitchFamily="34" charset="0"/>
          <a:buChar char="»"/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enzebach_PowerPoint_Master_DE.potx" id="{F1BC2351-B9C3-44A1-BBE5-E6461A42F929}" vid="{018A3C92-7CFE-4CDC-BEC9-E3CFD6E6598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Grenzebach_PowerPoint_Master_DE</Template>
  <TotalTime>0</TotalTime>
  <Words>1761</Words>
  <Application>Microsoft Office PowerPoint</Application>
  <PresentationFormat>Benutzerdefiniert</PresentationFormat>
  <Paragraphs>256</Paragraphs>
  <Slides>13</Slides>
  <Notes>13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Aptos</vt:lpstr>
      <vt:lpstr>Arial</vt:lpstr>
      <vt:lpstr>Segoe UI</vt:lpstr>
      <vt:lpstr>Wingdings</vt:lpstr>
      <vt:lpstr>Grenzebach Master</vt:lpstr>
      <vt:lpstr>think-cell Folie</vt:lpstr>
      <vt:lpstr>PowerPoint-Präsentation</vt:lpstr>
      <vt:lpstr>Ausgangslage und Forschungsfrage</vt:lpstr>
      <vt:lpstr>Systemarchitektur und Referenzbetrieb</vt:lpstr>
      <vt:lpstr>Untersuchungsdesign: fünf Fault-Injection-Cases</vt:lpstr>
      <vt:lpstr>C1 – Prozessausfälle und Laufzeit-Supervision</vt:lpstr>
      <vt:lpstr>C2 – Ressourcenerschöpfung im Bildarchiv</vt:lpstr>
      <vt:lpstr>C3 – Blockierende Log-Queue</vt:lpstr>
      <vt:lpstr>C4 – Veraltete Datenbankverbindungen</vt:lpstr>
      <vt:lpstr>C5 – Prüfung einer Shared-Memory-Race-Hypothese</vt:lpstr>
      <vt:lpstr>Synthetisierte Ursache-Wirkungs-Kette</vt:lpstr>
      <vt:lpstr>Handlungsempfehlungen für den Dauerbetrieb</vt:lpstr>
      <vt:lpstr>Evidenzgrenzen und Produktionstransfer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Schmidt Luca</dc:creator>
  <cp:lastModifiedBy>Schmidt Luca</cp:lastModifiedBy>
  <cp:revision>1</cp:revision>
  <dcterms:created xsi:type="dcterms:W3CDTF">2026-08-31T11:25:18Z</dcterms:created>
  <dcterms:modified xsi:type="dcterms:W3CDTF">2026-08-31T11:25:57Z</dcterms:modified>
</cp:coreProperties>
</file>